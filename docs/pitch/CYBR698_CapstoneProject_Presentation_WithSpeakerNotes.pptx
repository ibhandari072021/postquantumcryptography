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72" r:id="rId3"/>
    <p:sldId id="273" r:id="rId4"/>
    <p:sldId id="303" r:id="rId5"/>
    <p:sldId id="304" r:id="rId6"/>
    <p:sldId id="305" r:id="rId7"/>
    <p:sldId id="274" r:id="rId8"/>
    <p:sldId id="306" r:id="rId9"/>
    <p:sldId id="308" r:id="rId10"/>
    <p:sldId id="309" r:id="rId11"/>
    <p:sldId id="316" r:id="rId12"/>
    <p:sldId id="310" r:id="rId13"/>
    <p:sldId id="311" r:id="rId14"/>
    <p:sldId id="312" r:id="rId15"/>
    <p:sldId id="313" r:id="rId16"/>
    <p:sldId id="314" r:id="rId17"/>
    <p:sldId id="315" r:id="rId18"/>
    <p:sldId id="307" r:id="rId19"/>
    <p:sldId id="27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3AE93F-9B64-4709-A4FC-8992D9763307}" v="1" dt="2025-12-08T05:34:30.525"/>
    <p1510:client id="{C7B33B64-54EE-4565-8BA0-135C0838E05F}" v="1" dt="2025-12-08T05:19:40.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967" autoAdjust="0"/>
  </p:normalViewPr>
  <p:slideViewPr>
    <p:cSldViewPr snapToGrid="0">
      <p:cViewPr varScale="1">
        <p:scale>
          <a:sx n="88" d="100"/>
          <a:sy n="88" d="100"/>
        </p:scale>
        <p:origin x="143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dari, Ishita" userId="f19e3e0a-b09b-4c0e-bd9a-1660a3c48173" providerId="ADAL" clId="{298426B1-6A62-4EAD-923E-856376C23638}"/>
    <pc:docChg chg="custSel addSld modSld">
      <pc:chgData name="Bhandari, Ishita" userId="f19e3e0a-b09b-4c0e-bd9a-1660a3c48173" providerId="ADAL" clId="{298426B1-6A62-4EAD-923E-856376C23638}" dt="2025-12-08T05:35:02.478" v="137" actId="20577"/>
      <pc:docMkLst>
        <pc:docMk/>
      </pc:docMkLst>
      <pc:sldChg chg="delSp modSp mod">
        <pc:chgData name="Bhandari, Ishita" userId="f19e3e0a-b09b-4c0e-bd9a-1660a3c48173" providerId="ADAL" clId="{298426B1-6A62-4EAD-923E-856376C23638}" dt="2025-12-08T05:14:35.257" v="3" actId="207"/>
        <pc:sldMkLst>
          <pc:docMk/>
          <pc:sldMk cId="2027503659" sldId="277"/>
        </pc:sldMkLst>
        <pc:spChg chg="mod">
          <ac:chgData name="Bhandari, Ishita" userId="f19e3e0a-b09b-4c0e-bd9a-1660a3c48173" providerId="ADAL" clId="{298426B1-6A62-4EAD-923E-856376C23638}" dt="2025-12-08T05:14:35.257" v="3" actId="207"/>
          <ac:spMkLst>
            <pc:docMk/>
            <pc:sldMk cId="2027503659" sldId="277"/>
            <ac:spMk id="3" creationId="{86283DCF-F349-C167-B684-C14ED285E4B5}"/>
          </ac:spMkLst>
        </pc:spChg>
        <pc:picChg chg="del">
          <ac:chgData name="Bhandari, Ishita" userId="f19e3e0a-b09b-4c0e-bd9a-1660a3c48173" providerId="ADAL" clId="{298426B1-6A62-4EAD-923E-856376C23638}" dt="2025-12-08T05:14:14.157" v="0" actId="478"/>
          <ac:picMkLst>
            <pc:docMk/>
            <pc:sldMk cId="2027503659" sldId="277"/>
            <ac:picMk id="7" creationId="{218BDE0F-7053-BC70-A0AE-7150F1C018C7}"/>
          </ac:picMkLst>
        </pc:picChg>
      </pc:sldChg>
      <pc:sldChg chg="modNotesTx">
        <pc:chgData name="Bhandari, Ishita" userId="f19e3e0a-b09b-4c0e-bd9a-1660a3c48173" providerId="ADAL" clId="{298426B1-6A62-4EAD-923E-856376C23638}" dt="2025-12-08T05:34:29.644" v="76" actId="6549"/>
        <pc:sldMkLst>
          <pc:docMk/>
          <pc:sldMk cId="3760243975" sldId="314"/>
        </pc:sldMkLst>
      </pc:sldChg>
      <pc:sldChg chg="addSp modSp mod modNotesTx">
        <pc:chgData name="Bhandari, Ishita" userId="f19e3e0a-b09b-4c0e-bd9a-1660a3c48173" providerId="ADAL" clId="{298426B1-6A62-4EAD-923E-856376C23638}" dt="2025-12-08T05:35:02.478" v="137" actId="20577"/>
        <pc:sldMkLst>
          <pc:docMk/>
          <pc:sldMk cId="1489247190" sldId="315"/>
        </pc:sldMkLst>
        <pc:spChg chg="mod">
          <ac:chgData name="Bhandari, Ishita" userId="f19e3e0a-b09b-4c0e-bd9a-1660a3c48173" providerId="ADAL" clId="{298426B1-6A62-4EAD-923E-856376C23638}" dt="2025-12-08T05:25:05.035" v="72" actId="1076"/>
          <ac:spMkLst>
            <pc:docMk/>
            <pc:sldMk cId="1489247190" sldId="315"/>
            <ac:spMk id="7" creationId="{6A0F786D-1EAA-5517-BBC7-73B47D6CF9B1}"/>
          </ac:spMkLst>
        </pc:spChg>
        <pc:picChg chg="add mod">
          <ac:chgData name="Bhandari, Ishita" userId="f19e3e0a-b09b-4c0e-bd9a-1660a3c48173" providerId="ADAL" clId="{298426B1-6A62-4EAD-923E-856376C23638}" dt="2025-12-08T05:25:12.670" v="75" actId="14100"/>
          <ac:picMkLst>
            <pc:docMk/>
            <pc:sldMk cId="1489247190" sldId="315"/>
            <ac:picMk id="5" creationId="{61046C52-FAE9-3D6D-77CD-5D7F842901FD}"/>
          </ac:picMkLst>
        </pc:picChg>
      </pc:sldChg>
      <pc:sldChg chg="addSp delSp modSp add mod modNotesTx">
        <pc:chgData name="Bhandari, Ishita" userId="f19e3e0a-b09b-4c0e-bd9a-1660a3c48173" providerId="ADAL" clId="{298426B1-6A62-4EAD-923E-856376C23638}" dt="2025-12-08T05:22:27.402" v="69" actId="14100"/>
        <pc:sldMkLst>
          <pc:docMk/>
          <pc:sldMk cId="1759964506" sldId="316"/>
        </pc:sldMkLst>
        <pc:spChg chg="mod">
          <ac:chgData name="Bhandari, Ishita" userId="f19e3e0a-b09b-4c0e-bd9a-1660a3c48173" providerId="ADAL" clId="{298426B1-6A62-4EAD-923E-856376C23638}" dt="2025-12-08T05:19:45.413" v="14" actId="20577"/>
          <ac:spMkLst>
            <pc:docMk/>
            <pc:sldMk cId="1759964506" sldId="316"/>
            <ac:spMk id="2" creationId="{BDCA2B99-5EE4-6BE4-6556-62292BC9ACD1}"/>
          </ac:spMkLst>
        </pc:spChg>
        <pc:graphicFrameChg chg="del">
          <ac:chgData name="Bhandari, Ishita" userId="f19e3e0a-b09b-4c0e-bd9a-1660a3c48173" providerId="ADAL" clId="{298426B1-6A62-4EAD-923E-856376C23638}" dt="2025-12-08T05:19:49.435" v="15" actId="478"/>
          <ac:graphicFrameMkLst>
            <pc:docMk/>
            <pc:sldMk cId="1759964506" sldId="316"/>
            <ac:graphicFrameMk id="5" creationId="{304CD40B-8259-BA78-5BDD-B78EE85A7D21}"/>
          </ac:graphicFrameMkLst>
        </pc:graphicFrameChg>
        <pc:picChg chg="add mod">
          <ac:chgData name="Bhandari, Ishita" userId="f19e3e0a-b09b-4c0e-bd9a-1660a3c48173" providerId="ADAL" clId="{298426B1-6A62-4EAD-923E-856376C23638}" dt="2025-12-08T05:22:20.461" v="67" actId="14100"/>
          <ac:picMkLst>
            <pc:docMk/>
            <pc:sldMk cId="1759964506" sldId="316"/>
            <ac:picMk id="4" creationId="{FA3295D3-BCDB-FA88-B9D9-1715C8D5F660}"/>
          </ac:picMkLst>
        </pc:picChg>
        <pc:picChg chg="add mod">
          <ac:chgData name="Bhandari, Ishita" userId="f19e3e0a-b09b-4c0e-bd9a-1660a3c48173" providerId="ADAL" clId="{298426B1-6A62-4EAD-923E-856376C23638}" dt="2025-12-08T05:22:27.402" v="69" actId="14100"/>
          <ac:picMkLst>
            <pc:docMk/>
            <pc:sldMk cId="1759964506" sldId="316"/>
            <ac:picMk id="7" creationId="{581A62A1-172D-A621-08B9-E07E05205AF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9DBF9B-89AB-406A-80AD-5283C2080400}"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A39B21-60E2-4593-B64E-3632996FCCB0}" type="slidenum">
              <a:rPr lang="en-US" smtClean="0"/>
              <a:t>‹#›</a:t>
            </a:fld>
            <a:endParaRPr lang="en-US"/>
          </a:p>
        </p:txBody>
      </p:sp>
    </p:spTree>
    <p:extLst>
      <p:ext uri="{BB962C8B-B14F-4D97-AF65-F5344CB8AC3E}">
        <p14:creationId xmlns:p14="http://schemas.microsoft.com/office/powerpoint/2010/main" val="233877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Quantum computing will break classical RSA/ECC encryption within 5–10 years— not a theoretical concern but a documented timeline (NSM-10 directive, NIST roadmap). This research fills a critical gap: organizations lack empirical evidence to make PQC deployment decisions.  Doing research on sector-specific performance benchmarks (latency, memory, throughput), validate side-channel mitigations (masking, constant-time), and deliver governance roadmaps aligned with CSF 2.0 and NIST standards. The result is actionable transition strategies for finance (&lt;30ms latency), healthcare (10+ year data validity), and IoT (resource-constrained devices). This research will help operational readiness.</a:t>
            </a:r>
            <a:endParaRPr lang="en-US" dirty="0"/>
          </a:p>
        </p:txBody>
      </p:sp>
      <p:sp>
        <p:nvSpPr>
          <p:cNvPr id="4" name="Slide Number Placeholder 3"/>
          <p:cNvSpPr>
            <a:spLocks noGrp="1"/>
          </p:cNvSpPr>
          <p:nvPr>
            <p:ph type="sldNum" sz="quarter" idx="5"/>
          </p:nvPr>
        </p:nvSpPr>
        <p:spPr/>
        <p:txBody>
          <a:bodyPr/>
          <a:lstStyle/>
          <a:p>
            <a:fld id="{8AA39B21-60E2-4593-B64E-3632996FCCB0}" type="slidenum">
              <a:rPr lang="en-US" smtClean="0"/>
              <a:t>1</a:t>
            </a:fld>
            <a:endParaRPr lang="en-US"/>
          </a:p>
        </p:txBody>
      </p:sp>
    </p:spTree>
    <p:extLst>
      <p:ext uri="{BB962C8B-B14F-4D97-AF65-F5344CB8AC3E}">
        <p14:creationId xmlns:p14="http://schemas.microsoft.com/office/powerpoint/2010/main" val="1737847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agenda</a:t>
            </a:r>
          </a:p>
        </p:txBody>
      </p:sp>
      <p:sp>
        <p:nvSpPr>
          <p:cNvPr id="4" name="Slide Number Placeholder 3"/>
          <p:cNvSpPr>
            <a:spLocks noGrp="1"/>
          </p:cNvSpPr>
          <p:nvPr>
            <p:ph type="sldNum" sz="quarter" idx="5"/>
          </p:nvPr>
        </p:nvSpPr>
        <p:spPr/>
        <p:txBody>
          <a:bodyPr/>
          <a:lstStyle/>
          <a:p>
            <a:fld id="{8AA39B21-60E2-4593-B64E-3632996FCCB0}" type="slidenum">
              <a:rPr lang="en-US" smtClean="0"/>
              <a:t>2</a:t>
            </a:fld>
            <a:endParaRPr lang="en-US"/>
          </a:p>
        </p:txBody>
      </p:sp>
    </p:spTree>
    <p:extLst>
      <p:ext uri="{BB962C8B-B14F-4D97-AF65-F5344CB8AC3E}">
        <p14:creationId xmlns:p14="http://schemas.microsoft.com/office/powerpoint/2010/main" val="3606678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quantum threat is real and imminent: cryptographically-relevant quantum computers will break RSA/ECC within 5–10 years, forcing organizations to transition immediately. However, this transition isn't one-size-fits-all. Finance organizations face strict latency requirements—Ahmed et al. (2025) validates that Kyber achieves 13.5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Dilithium</a:t>
            </a:r>
            <a:r>
              <a:rPr lang="en-US" sz="1200" b="0" i="0" kern="1200" dirty="0">
                <a:solidFill>
                  <a:schemeClr val="tx1"/>
                </a:solidFill>
                <a:effectLst/>
                <a:latin typeface="+mn-lt"/>
                <a:ea typeface="+mn-ea"/>
                <a:cs typeface="+mn-cs"/>
              </a:rPr>
              <a:t> 26.5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average, both under the critical 30 </a:t>
            </a:r>
            <a:r>
              <a:rPr lang="en-US" sz="1200" b="0" i="0" kern="1200" dirty="0" err="1">
                <a:solidFill>
                  <a:schemeClr val="tx1"/>
                </a:solidFill>
                <a:effectLst/>
                <a:latin typeface="+mn-lt"/>
                <a:ea typeface="+mn-ea"/>
                <a:cs typeface="+mn-cs"/>
              </a:rPr>
              <a:t>ms</a:t>
            </a:r>
            <a:r>
              <a:rPr lang="en-US" sz="1200" b="0" i="0" kern="1200" dirty="0">
                <a:solidFill>
                  <a:schemeClr val="tx1"/>
                </a:solidFill>
                <a:effectLst/>
                <a:latin typeface="+mn-lt"/>
                <a:ea typeface="+mn-ea"/>
                <a:cs typeface="+mn-cs"/>
              </a:rPr>
              <a:t> threshold for real-time transactions. Healthcare sectors face a different constraint: data must remain secure and integrity-verifiable for 10+ years, making SPHINCS the preferred choice for long-term archival signatures. IoT deployments are memory and power-constrained, requiring lightweight implementations. Yet despite these sector-specific needs, no unified governance roadmap exists in industry today—organizations lack guidance on compliant, risk-managed PQC transitions aligned with CSF 2.0 and NIST standards. This research fills that critical gap by delivering empirical evidence, sector-specific algorithm recommendations, and governance frameworks that enable organizations to make confident PQC deployment decisions.</a:t>
            </a:r>
            <a:endParaRPr lang="en-US" dirty="0"/>
          </a:p>
        </p:txBody>
      </p:sp>
      <p:sp>
        <p:nvSpPr>
          <p:cNvPr id="4" name="Slide Number Placeholder 3"/>
          <p:cNvSpPr>
            <a:spLocks noGrp="1"/>
          </p:cNvSpPr>
          <p:nvPr>
            <p:ph type="sldNum" sz="quarter" idx="5"/>
          </p:nvPr>
        </p:nvSpPr>
        <p:spPr/>
        <p:txBody>
          <a:bodyPr/>
          <a:lstStyle/>
          <a:p>
            <a:fld id="{8AA39B21-60E2-4593-B64E-3632996FCCB0}" type="slidenum">
              <a:rPr lang="en-US" smtClean="0"/>
              <a:t>3</a:t>
            </a:fld>
            <a:endParaRPr lang="en-US"/>
          </a:p>
        </p:txBody>
      </p:sp>
    </p:spTree>
    <p:extLst>
      <p:ext uri="{BB962C8B-B14F-4D97-AF65-F5344CB8AC3E}">
        <p14:creationId xmlns:p14="http://schemas.microsoft.com/office/powerpoint/2010/main" val="3728960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chart shows the government's plan to transition from old encryption to quantum-safe encryption by 2030.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computer's passwords and secrets are currently protected by encryption that works with:</a:t>
            </a:r>
          </a:p>
          <a:p>
            <a:r>
              <a:rPr lang="en-US" sz="1200" b="0" i="0" kern="1200" dirty="0">
                <a:solidFill>
                  <a:schemeClr val="tx1"/>
                </a:solidFill>
                <a:effectLst/>
                <a:latin typeface="+mn-lt"/>
                <a:ea typeface="+mn-ea"/>
                <a:cs typeface="+mn-cs"/>
              </a:rPr>
              <a:t>RSA (most common)</a:t>
            </a:r>
          </a:p>
          <a:p>
            <a:r>
              <a:rPr lang="en-US" sz="1200" b="0" i="0" kern="1200" dirty="0">
                <a:solidFill>
                  <a:schemeClr val="tx1"/>
                </a:solidFill>
                <a:effectLst/>
                <a:latin typeface="+mn-lt"/>
                <a:ea typeface="+mn-ea"/>
                <a:cs typeface="+mn-cs"/>
              </a:rPr>
              <a:t>ECC (newer but still vulnerable)</a:t>
            </a:r>
          </a:p>
          <a:p>
            <a:r>
              <a:rPr lang="en-US" sz="1200" b="0" i="0" kern="1200" dirty="0">
                <a:solidFill>
                  <a:schemeClr val="tx1"/>
                </a:solidFill>
                <a:effectLst/>
                <a:latin typeface="+mn-lt"/>
                <a:ea typeface="+mn-ea"/>
                <a:cs typeface="+mn-cs"/>
              </a:rPr>
              <a:t>The Problem: Quantum computers (when they exist) can break these in hours instead of thousands of years.</a:t>
            </a:r>
          </a:p>
          <a:p>
            <a:r>
              <a:rPr lang="en-US" sz="1200" b="0" i="0" kern="1200" dirty="0">
                <a:solidFill>
                  <a:schemeClr val="tx1"/>
                </a:solidFill>
                <a:effectLst/>
                <a:latin typeface="+mn-lt"/>
                <a:ea typeface="+mn-ea"/>
                <a:cs typeface="+mn-cs"/>
              </a:rPr>
              <a:t>The Solution: Switch to Post-Quantum Cryptography (PQC) – new math-based encryption that quantum computers can't break.</a:t>
            </a:r>
          </a:p>
          <a:p>
            <a:endParaRPr lang="en-US" dirty="0"/>
          </a:p>
        </p:txBody>
      </p:sp>
      <p:sp>
        <p:nvSpPr>
          <p:cNvPr id="4" name="Slide Number Placeholder 3"/>
          <p:cNvSpPr>
            <a:spLocks noGrp="1"/>
          </p:cNvSpPr>
          <p:nvPr>
            <p:ph type="sldNum" sz="quarter" idx="5"/>
          </p:nvPr>
        </p:nvSpPr>
        <p:spPr/>
        <p:txBody>
          <a:bodyPr/>
          <a:lstStyle/>
          <a:p>
            <a:fld id="{8AA39B21-60E2-4593-B64E-3632996FCCB0}" type="slidenum">
              <a:rPr lang="en-US" smtClean="0"/>
              <a:t>4</a:t>
            </a:fld>
            <a:endParaRPr lang="en-US"/>
          </a:p>
        </p:txBody>
      </p:sp>
    </p:spTree>
    <p:extLst>
      <p:ext uri="{BB962C8B-B14F-4D97-AF65-F5344CB8AC3E}">
        <p14:creationId xmlns:p14="http://schemas.microsoft.com/office/powerpoint/2010/main" val="2988795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B53E8-1AB2-523F-2DCC-52DDC481A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74921-FE21-A367-9118-9ED70075C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2BD53-EA62-7D89-5C3F-CDD80E72EF4A}"/>
              </a:ext>
            </a:extLst>
          </p:cNvPr>
          <p:cNvSpPr>
            <a:spLocks noGrp="1"/>
          </p:cNvSpPr>
          <p:nvPr>
            <p:ph type="body" idx="1"/>
          </p:nvPr>
        </p:nvSpPr>
        <p:spPr/>
        <p:txBody>
          <a:bodyPr/>
          <a:lstStyle/>
          <a:p>
            <a:r>
              <a:rPr lang="en-US" dirty="0"/>
              <a:t>NIST's PQC standardization journey spans eight years of rigorous cryptographic research. In December 2016, NIST issued a global call for post-quantum algorithms, inviting experts worldwide to submit candidates that could withstand quantum computer attacks. By 2022, after extensive evaluation including security analysis, performance testing, and side-channel resistance assessment, NIST selected the three finalists: Kyber (key encapsulation), </a:t>
            </a:r>
            <a:r>
              <a:rPr lang="en-US" dirty="0" err="1"/>
              <a:t>Dilithium</a:t>
            </a:r>
            <a:r>
              <a:rPr lang="en-US" dirty="0"/>
              <a:t> (digital signatures), and SPHINCS (stateless hash-based signatures)—these are the cryptographic "winners" that cannot be broken by known quantum algorithms. By late 2024, NIST published the final standards officially, enabling government agencies and private organizations to begin PQC deployment with confidence. This Phase 1 completion signals the end of the research phase and the start of the migration phase.</a:t>
            </a:r>
          </a:p>
        </p:txBody>
      </p:sp>
      <p:sp>
        <p:nvSpPr>
          <p:cNvPr id="4" name="Slide Number Placeholder 3">
            <a:extLst>
              <a:ext uri="{FF2B5EF4-FFF2-40B4-BE49-F238E27FC236}">
                <a16:creationId xmlns:a16="http://schemas.microsoft.com/office/drawing/2014/main" id="{4495C2C0-C937-CD49-548D-1542CD804360}"/>
              </a:ext>
            </a:extLst>
          </p:cNvPr>
          <p:cNvSpPr>
            <a:spLocks noGrp="1"/>
          </p:cNvSpPr>
          <p:nvPr>
            <p:ph type="sldNum" sz="quarter" idx="5"/>
          </p:nvPr>
        </p:nvSpPr>
        <p:spPr/>
        <p:txBody>
          <a:bodyPr/>
          <a:lstStyle/>
          <a:p>
            <a:fld id="{8AA39B21-60E2-4593-B64E-3632996FCCB0}" type="slidenum">
              <a:rPr lang="en-US" smtClean="0"/>
              <a:t>5</a:t>
            </a:fld>
            <a:endParaRPr lang="en-US"/>
          </a:p>
        </p:txBody>
      </p:sp>
    </p:spTree>
    <p:extLst>
      <p:ext uri="{BB962C8B-B14F-4D97-AF65-F5344CB8AC3E}">
        <p14:creationId xmlns:p14="http://schemas.microsoft.com/office/powerpoint/2010/main" val="22879780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38511-87C4-926F-77A4-1AD1E7BE15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BFCDF-262E-C4F8-57CE-5B8FAAD78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0BB61E-6685-3EFE-51C4-7316FAC66ED5}"/>
              </a:ext>
            </a:extLst>
          </p:cNvPr>
          <p:cNvSpPr>
            <a:spLocks noGrp="1"/>
          </p:cNvSpPr>
          <p:nvPr>
            <p:ph type="body" idx="1"/>
          </p:nvPr>
        </p:nvSpPr>
        <p:spPr/>
        <p:txBody>
          <a:bodyPr/>
          <a:lstStyle/>
          <a:p>
            <a:r>
              <a:rPr lang="en-US" dirty="0"/>
              <a:t>The U.S. government's PQC transition is coordinated across five key agencies with clear deadlines and accountability. NSA mandated in May 2022 that all systems must switch to PQC, with specific targets: by 2033, web, cloud, operating systems, devices, and networking equipment must use quantum-safe encryption. OMB oversees all federal agencies: by October 2022, agencies inventoried their cryptosystems; by November 2022, OMB published transition guidance; </a:t>
            </a:r>
          </a:p>
          <a:p>
            <a:r>
              <a:rPr lang="en-US" dirty="0"/>
              <a:t>and within one year of NIST standards (late 2024), every agency must have a formal PQC transition plan. CISA executes the transition: by 2024, releasing tools and support; by 2030, all critical infrastructure must be using PQC. NCD coordinates progress: reporting in October 2023 and annually thereafter, and securing ongoing funding for PQC projects. This multi-agency approach ensures no organization gets left behind—with inventory, planning, tooling, and execution phases clearly defined. Organizations aligned with this roadmap gain compliance readiness and competitive advantage.</a:t>
            </a:r>
          </a:p>
          <a:p>
            <a:endParaRPr lang="en-US" dirty="0"/>
          </a:p>
        </p:txBody>
      </p:sp>
      <p:sp>
        <p:nvSpPr>
          <p:cNvPr id="4" name="Slide Number Placeholder 3">
            <a:extLst>
              <a:ext uri="{FF2B5EF4-FFF2-40B4-BE49-F238E27FC236}">
                <a16:creationId xmlns:a16="http://schemas.microsoft.com/office/drawing/2014/main" id="{BF220E79-8381-82CC-B61A-7BC43D8203BD}"/>
              </a:ext>
            </a:extLst>
          </p:cNvPr>
          <p:cNvSpPr>
            <a:spLocks noGrp="1"/>
          </p:cNvSpPr>
          <p:nvPr>
            <p:ph type="sldNum" sz="quarter" idx="5"/>
          </p:nvPr>
        </p:nvSpPr>
        <p:spPr/>
        <p:txBody>
          <a:bodyPr/>
          <a:lstStyle/>
          <a:p>
            <a:fld id="{8AA39B21-60E2-4593-B64E-3632996FCCB0}" type="slidenum">
              <a:rPr lang="en-US" smtClean="0"/>
              <a:t>6</a:t>
            </a:fld>
            <a:endParaRPr lang="en-US"/>
          </a:p>
        </p:txBody>
      </p:sp>
    </p:spTree>
    <p:extLst>
      <p:ext uri="{BB962C8B-B14F-4D97-AF65-F5344CB8AC3E}">
        <p14:creationId xmlns:p14="http://schemas.microsoft.com/office/powerpoint/2010/main" val="2316377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directly addresses three critical gaps exposed by the government's 2030 transition deadline. First: organizations don't know if PQC algorithms (Kyber, </a:t>
            </a:r>
            <a:r>
              <a:rPr lang="en-US" dirty="0" err="1"/>
              <a:t>Dilithium</a:t>
            </a:r>
            <a:r>
              <a:rPr lang="en-US" dirty="0"/>
              <a:t>, SPHINCS) actually perform fast enough—I provide empirical latency and throughput benchmarks across sectors. Second: side-channel attacks remain a vulnerability even with quantum-safe algorithms—my evidence table validates masking and constant-time mitigations actually reduce attack success rates. Third: governance chaos—different agencies have different deadlines, and most organizations lack a compliant transition framework—I deliver a CSF 2.0-aligned roadmap that works. Without this research, organizations default to expensive trial-and-error. With it, they deploy PQC with confidence, meeting the 2030 mandate without sacrificing performance, security, or compliance.</a:t>
            </a:r>
          </a:p>
        </p:txBody>
      </p:sp>
      <p:sp>
        <p:nvSpPr>
          <p:cNvPr id="4" name="Slide Number Placeholder 3"/>
          <p:cNvSpPr>
            <a:spLocks noGrp="1"/>
          </p:cNvSpPr>
          <p:nvPr>
            <p:ph type="sldNum" sz="quarter" idx="5"/>
          </p:nvPr>
        </p:nvSpPr>
        <p:spPr/>
        <p:txBody>
          <a:bodyPr/>
          <a:lstStyle/>
          <a:p>
            <a:fld id="{8AA39B21-60E2-4593-B64E-3632996FCCB0}" type="slidenum">
              <a:rPr lang="en-US" smtClean="0"/>
              <a:t>7</a:t>
            </a:fld>
            <a:endParaRPr lang="en-US"/>
          </a:p>
        </p:txBody>
      </p:sp>
    </p:spTree>
    <p:extLst>
      <p:ext uri="{BB962C8B-B14F-4D97-AF65-F5344CB8AC3E}">
        <p14:creationId xmlns:p14="http://schemas.microsoft.com/office/powerpoint/2010/main" val="2444010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evidence table is the backbone of my research. Three independent studies validate my three research questions: Ahmed et al. (2025) benchmarks Kyber and </a:t>
            </a:r>
            <a:r>
              <a:rPr lang="en-US" dirty="0" err="1"/>
              <a:t>Dilithium</a:t>
            </a:r>
            <a:r>
              <a:rPr lang="en-US" dirty="0"/>
              <a:t> at sub-30ms latency for finance and recommends SPHINCS for long-term healthcare archival—answering RQ-D1 on performance. Boyens (2023)—note I've updated this from "Epure" for accuracy—demonstrates that masking and constant-time code effectively reduce side-channel leakage in real pilots, validating RQ-C2 mitigation strategies. NIST (2024) provides the governance blueprint: phased rollout with parallel stacks and rollback procedures, directly supporting RQ-G1 organizational readiness. Together, these three sources prove PQC is not just theoretically quantum-safe—it's performant, resistant to attack, and governable at enterprise scale. This is the evidence organizations need to make the 2030 transition with confidence.</a:t>
            </a:r>
          </a:p>
        </p:txBody>
      </p:sp>
      <p:sp>
        <p:nvSpPr>
          <p:cNvPr id="4" name="Slide Number Placeholder 3"/>
          <p:cNvSpPr>
            <a:spLocks noGrp="1"/>
          </p:cNvSpPr>
          <p:nvPr>
            <p:ph type="sldNum" sz="quarter" idx="5"/>
          </p:nvPr>
        </p:nvSpPr>
        <p:spPr/>
        <p:txBody>
          <a:bodyPr/>
          <a:lstStyle/>
          <a:p>
            <a:fld id="{8AA39B21-60E2-4593-B64E-3632996FCCB0}" type="slidenum">
              <a:rPr lang="en-US" smtClean="0"/>
              <a:t>8</a:t>
            </a:fld>
            <a:endParaRPr lang="en-US"/>
          </a:p>
        </p:txBody>
      </p:sp>
    </p:spTree>
    <p:extLst>
      <p:ext uri="{BB962C8B-B14F-4D97-AF65-F5344CB8AC3E}">
        <p14:creationId xmlns:p14="http://schemas.microsoft.com/office/powerpoint/2010/main" val="214590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318FA-D4A3-5237-249E-015363606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BD8F9-059E-8BAB-4D93-7F22956A6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ED46F0-0532-26C0-24F2-ABF042B78B8E}"/>
              </a:ext>
            </a:extLst>
          </p:cNvPr>
          <p:cNvSpPr>
            <a:spLocks noGrp="1"/>
          </p:cNvSpPr>
          <p:nvPr>
            <p:ph type="body" idx="1"/>
          </p:nvPr>
        </p:nvSpPr>
        <p:spPr/>
        <p:txBody>
          <a:bodyPr/>
          <a:lstStyle/>
          <a:p>
            <a:r>
              <a:rPr lang="en-US" dirty="0"/>
              <a:t>My methodology is a four-stage pipeline: data collection (quantitative meta-analysis of peer-reviewed PQC studies + qualitative 15–20 interviews with security leaders), instrumentation (extraction protocols, PRISMA rubric for systematic bias mitigation), analysis (coding and integration via joint-display matrices), and output (performance benchmarks and governance roadmaps). Three SMART metrics operationalize accountability: Source Coverage Ratio (≥80% industry + peer-reviewed sources, mitigating bias per 800-171r3), Side-Channel Effectiveness (&lt;10% residual leakage post-mitigation validating RQ-C2), and Governance Adoption Rate (&gt;60% of interviews confirming phased PQC rollout alignment with NIST). These metrics are reproducible—anyone can run the Docker command next slide and verify results identically. This mixed-methods design synthesizes hard performance data (Ahmed: &lt;30ms latency in finance, ~15ms in IoT) with real-world governance experience (Boyens: masking effectiveness in pilots, NIST: phased precedent), ensuring research is both empirically rigorous and operationally actionable.</a:t>
            </a:r>
          </a:p>
        </p:txBody>
      </p:sp>
      <p:sp>
        <p:nvSpPr>
          <p:cNvPr id="4" name="Slide Number Placeholder 3">
            <a:extLst>
              <a:ext uri="{FF2B5EF4-FFF2-40B4-BE49-F238E27FC236}">
                <a16:creationId xmlns:a16="http://schemas.microsoft.com/office/drawing/2014/main" id="{A0D0A0AC-D6E7-620F-DEAA-072169ABF742}"/>
              </a:ext>
            </a:extLst>
          </p:cNvPr>
          <p:cNvSpPr>
            <a:spLocks noGrp="1"/>
          </p:cNvSpPr>
          <p:nvPr>
            <p:ph type="sldNum" sz="quarter" idx="5"/>
          </p:nvPr>
        </p:nvSpPr>
        <p:spPr/>
        <p:txBody>
          <a:bodyPr/>
          <a:lstStyle/>
          <a:p>
            <a:fld id="{8AA39B21-60E2-4593-B64E-3632996FCCB0}" type="slidenum">
              <a:rPr lang="en-US" smtClean="0"/>
              <a:t>9</a:t>
            </a:fld>
            <a:endParaRPr lang="en-US"/>
          </a:p>
        </p:txBody>
      </p:sp>
    </p:spTree>
    <p:extLst>
      <p:ext uri="{BB962C8B-B14F-4D97-AF65-F5344CB8AC3E}">
        <p14:creationId xmlns:p14="http://schemas.microsoft.com/office/powerpoint/2010/main" val="3500895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36545-45E0-185F-2D56-12AAF986A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BBDBE5-6F03-992F-AD93-EC6468B06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9D1FB-F5F4-A1F5-56DC-46B4EBBFAD96}"/>
              </a:ext>
            </a:extLst>
          </p:cNvPr>
          <p:cNvSpPr>
            <a:spLocks noGrp="1"/>
          </p:cNvSpPr>
          <p:nvPr>
            <p:ph type="body" idx="1"/>
          </p:nvPr>
        </p:nvSpPr>
        <p:spPr/>
        <p:txBody>
          <a:bodyPr/>
          <a:lstStyle/>
          <a:p>
            <a:r>
              <a:rPr lang="en-US" dirty="0"/>
              <a:t>This slide anchors my PQC research to two foundational federal standards verified against official PDFs. </a:t>
            </a:r>
          </a:p>
          <a:p>
            <a:r>
              <a:rPr lang="en-US" dirty="0"/>
              <a:t>First: CSF 2.0 PR.PS (Platform Security, Appendix A, p. 25) mandates that "hardware, software, firmware, operating systems, applications, and services are managed consistent with the organization's risk strategy to protect confidentiality, integrity, and availability"—my research operationalizes this by benchmarking PQC implementation security practices across sectors and demonstrating continuous secure software monitoring via performance logs and vulnerability tracking. </a:t>
            </a:r>
          </a:p>
          <a:p>
            <a:r>
              <a:rPr lang="en-US" dirty="0"/>
              <a:t>Second: SP 800-207 Zero Trust Architecture (Section 3.3.1, p. 16) requires "all resource authentication and authorization are dynamic and strictly enforced before access is allowed" with "continual monitoring and possible reauthentication"—my PQC auth middleware implements this by deploying session-based MFA with audit logging on every API request and real-time anomaly detection for continuous reauthentication. </a:t>
            </a:r>
          </a:p>
          <a:p>
            <a:r>
              <a:rPr lang="en-US" dirty="0"/>
              <a:t>Together, these standards prove PQC isn't just quantum-safe—it's a compliance enabler for modern zero-trust architectures. Quote these exact outcomes during delivery for unimpeachable standards grounding.</a:t>
            </a:r>
          </a:p>
        </p:txBody>
      </p:sp>
      <p:sp>
        <p:nvSpPr>
          <p:cNvPr id="4" name="Slide Number Placeholder 3">
            <a:extLst>
              <a:ext uri="{FF2B5EF4-FFF2-40B4-BE49-F238E27FC236}">
                <a16:creationId xmlns:a16="http://schemas.microsoft.com/office/drawing/2014/main" id="{FB16E874-D34A-1429-5E1D-D4D97F786EC4}"/>
              </a:ext>
            </a:extLst>
          </p:cNvPr>
          <p:cNvSpPr>
            <a:spLocks noGrp="1"/>
          </p:cNvSpPr>
          <p:nvPr>
            <p:ph type="sldNum" sz="quarter" idx="5"/>
          </p:nvPr>
        </p:nvSpPr>
        <p:spPr/>
        <p:txBody>
          <a:bodyPr/>
          <a:lstStyle/>
          <a:p>
            <a:fld id="{8AA39B21-60E2-4593-B64E-3632996FCCB0}" type="slidenum">
              <a:rPr lang="en-US" smtClean="0"/>
              <a:t>10</a:t>
            </a:fld>
            <a:endParaRPr lang="en-US"/>
          </a:p>
        </p:txBody>
      </p:sp>
    </p:spTree>
    <p:extLst>
      <p:ext uri="{BB962C8B-B14F-4D97-AF65-F5344CB8AC3E}">
        <p14:creationId xmlns:p14="http://schemas.microsoft.com/office/powerpoint/2010/main" val="3070574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5E6D6-E70A-6AF4-C8AC-C991861EF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CB00E-323C-530D-B591-805AE5B7A3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AA71A9-3239-2022-63E0-178B786E11BA}"/>
              </a:ext>
            </a:extLst>
          </p:cNvPr>
          <p:cNvSpPr>
            <a:spLocks noGrp="1"/>
          </p:cNvSpPr>
          <p:nvPr>
            <p:ph type="body" idx="1"/>
          </p:nvPr>
        </p:nvSpPr>
        <p:spPr/>
        <p:txBody>
          <a:bodyPr/>
          <a:lstStyle/>
          <a:p>
            <a:r>
              <a:rPr lang="en-US" dirty="0"/>
              <a:t>Exact Screenshot from CSF2.0 and SO 800-207</a:t>
            </a:r>
          </a:p>
        </p:txBody>
      </p:sp>
      <p:sp>
        <p:nvSpPr>
          <p:cNvPr id="4" name="Slide Number Placeholder 3">
            <a:extLst>
              <a:ext uri="{FF2B5EF4-FFF2-40B4-BE49-F238E27FC236}">
                <a16:creationId xmlns:a16="http://schemas.microsoft.com/office/drawing/2014/main" id="{4FCA2E88-4B59-CC89-92C8-25FED36BDA8C}"/>
              </a:ext>
            </a:extLst>
          </p:cNvPr>
          <p:cNvSpPr>
            <a:spLocks noGrp="1"/>
          </p:cNvSpPr>
          <p:nvPr>
            <p:ph type="sldNum" sz="quarter" idx="5"/>
          </p:nvPr>
        </p:nvSpPr>
        <p:spPr/>
        <p:txBody>
          <a:bodyPr/>
          <a:lstStyle/>
          <a:p>
            <a:fld id="{8AA39B21-60E2-4593-B64E-3632996FCCB0}" type="slidenum">
              <a:rPr lang="en-US" smtClean="0"/>
              <a:t>11</a:t>
            </a:fld>
            <a:endParaRPr lang="en-US"/>
          </a:p>
        </p:txBody>
      </p:sp>
    </p:spTree>
    <p:extLst>
      <p:ext uri="{BB962C8B-B14F-4D97-AF65-F5344CB8AC3E}">
        <p14:creationId xmlns:p14="http://schemas.microsoft.com/office/powerpoint/2010/main" val="874897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operationalizes three critical safeguards distilled from Week 7 risk analysis and Week 8 governance documentation. </a:t>
            </a:r>
            <a:br>
              <a:rPr lang="en-US" dirty="0"/>
            </a:br>
            <a:endParaRPr lang="en-US" dirty="0"/>
          </a:p>
          <a:p>
            <a:r>
              <a:rPr lang="en-US" dirty="0"/>
              <a:t>First: Privacy &amp; Confidentiality (Week 7 ETHICS.md)—I de-identify all interview data using pseudonyms with removal of identifiers, encrypt sensitive data at rest/transit using AES-256, enforce least-privilege access with quarterly reviews, and ensure secure erasure post-retention (5-year retention, then purged). Mitigates re-identification and parameter leakage risks. </a:t>
            </a:r>
            <a:br>
              <a:rPr lang="en-US" dirty="0"/>
            </a:br>
            <a:r>
              <a:rPr lang="en-US" dirty="0"/>
              <a:t>Second: Data Handling &amp; Versioning (Week 8 DMP.md)—all code versioned via Git with checksums, </a:t>
            </a:r>
            <a:r>
              <a:rPr lang="en-US" dirty="0" err="1"/>
              <a:t>Jupyter</a:t>
            </a:r>
            <a:r>
              <a:rPr lang="en-US" dirty="0"/>
              <a:t> transformation logs tracked, encrypted S3 backups maintained. Sensitive artifacts (interviews, test logs) never shared publicly; only aggregated results published. Ensures audit-ready traceability. </a:t>
            </a:r>
            <a:br>
              <a:rPr lang="en-US" dirty="0"/>
            </a:br>
            <a:r>
              <a:rPr lang="en-US" dirty="0"/>
              <a:t>Third: Supplier Risk &amp; C-SCRM (Week 8 cSRM_note.md)—open-source PQC libraries (Kyber/</a:t>
            </a:r>
            <a:r>
              <a:rPr lang="en-US" dirty="0" err="1"/>
              <a:t>Dilithium</a:t>
            </a:r>
            <a:r>
              <a:rPr lang="en-US" dirty="0"/>
              <a:t>/SPHINCS) tracked via SBOM (Software Bill of Materials) with checksums, proactive vulnerability monitoring in CI/CD pipeline per NIST SP 800-161r1. All three safeguards map to AU-2 (Audit Events, SP 800-53 Rev. 5) and 800-171r3 controls for organization-defined event logging and accountability. Point to docs/DMP.md and docs/cSRM_note.md for full implementation details.</a:t>
            </a:r>
          </a:p>
          <a:p>
            <a:endParaRPr lang="en-US" dirty="0"/>
          </a:p>
        </p:txBody>
      </p:sp>
      <p:sp>
        <p:nvSpPr>
          <p:cNvPr id="4" name="Slide Number Placeholder 3"/>
          <p:cNvSpPr>
            <a:spLocks noGrp="1"/>
          </p:cNvSpPr>
          <p:nvPr>
            <p:ph type="sldNum" sz="quarter" idx="5"/>
          </p:nvPr>
        </p:nvSpPr>
        <p:spPr/>
        <p:txBody>
          <a:bodyPr/>
          <a:lstStyle/>
          <a:p>
            <a:fld id="{8AA39B21-60E2-4593-B64E-3632996FCCB0}" type="slidenum">
              <a:rPr lang="en-US" smtClean="0"/>
              <a:t>12</a:t>
            </a:fld>
            <a:endParaRPr lang="en-US"/>
          </a:p>
        </p:txBody>
      </p:sp>
    </p:spTree>
    <p:extLst>
      <p:ext uri="{BB962C8B-B14F-4D97-AF65-F5344CB8AC3E}">
        <p14:creationId xmlns:p14="http://schemas.microsoft.com/office/powerpoint/2010/main" val="42544330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818A-261A-A926-1F28-923EC3FCD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D7B8B-8C79-0973-5F60-4F68BCC01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78858-9778-87D5-D7E4-3BBFC57150C5}"/>
              </a:ext>
            </a:extLst>
          </p:cNvPr>
          <p:cNvSpPr>
            <a:spLocks noGrp="1"/>
          </p:cNvSpPr>
          <p:nvPr>
            <p:ph type="body" idx="1"/>
          </p:nvPr>
        </p:nvSpPr>
        <p:spPr/>
        <p:txBody>
          <a:bodyPr/>
          <a:lstStyle/>
          <a:p>
            <a:r>
              <a:rPr lang="en-US" dirty="0"/>
              <a:t>This slide demonstrates the traceability framework from Week 11—the backbone of my research governance. I start with a </a:t>
            </a:r>
            <a:r>
              <a:rPr lang="en-US" dirty="0" err="1"/>
              <a:t>Risk→Requirement→Metric→Evidence</a:t>
            </a:r>
            <a:r>
              <a:rPr lang="en-US" dirty="0"/>
              <a:t> chain: I have identified a risk (insufficient published metrics for PQC variants), traced it to a requirement (800-171r3 03.02.01: establish baseline of security-relevant data sources), operationalized it as a metric (Source Coverage Ratio), and pointed to the evidence artifact (docs/sourcecount.csv). This chain ensures every metric is auditable and tied to a concrete risk. The three SMART metrics on the slide—Source Coverage Ratio (unique PQC sources / total sources), Reference Freshness (average publication year, goal &gt;75%  post-2023), and Privacy Incident Rate (leaked test runs / total test runs, goal zero tolerance)—are then tracked in specific data sources: sourcecount.csv, sourcelog.csv, and testoutput.log respectively. All three metrics are weekly updated and reproducible via the Docker command I'll show on the next slide. The full requirement text (03.02.01) stays in Week 7–11 documentation; the slide shows only the ID and metric formula for clarity. This operationalizes accountability: every metric has a purpose, every metric has a source, and every metric is verifiable.</a:t>
            </a:r>
          </a:p>
        </p:txBody>
      </p:sp>
      <p:sp>
        <p:nvSpPr>
          <p:cNvPr id="4" name="Slide Number Placeholder 3">
            <a:extLst>
              <a:ext uri="{FF2B5EF4-FFF2-40B4-BE49-F238E27FC236}">
                <a16:creationId xmlns:a16="http://schemas.microsoft.com/office/drawing/2014/main" id="{CEAA424E-D869-2A4C-28AD-66423ED50FCA}"/>
              </a:ext>
            </a:extLst>
          </p:cNvPr>
          <p:cNvSpPr>
            <a:spLocks noGrp="1"/>
          </p:cNvSpPr>
          <p:nvPr>
            <p:ph type="sldNum" sz="quarter" idx="5"/>
          </p:nvPr>
        </p:nvSpPr>
        <p:spPr/>
        <p:txBody>
          <a:bodyPr/>
          <a:lstStyle/>
          <a:p>
            <a:fld id="{8AA39B21-60E2-4593-B64E-3632996FCCB0}" type="slidenum">
              <a:rPr lang="en-US" smtClean="0"/>
              <a:t>13</a:t>
            </a:fld>
            <a:endParaRPr lang="en-US"/>
          </a:p>
        </p:txBody>
      </p:sp>
    </p:spTree>
    <p:extLst>
      <p:ext uri="{BB962C8B-B14F-4D97-AF65-F5344CB8AC3E}">
        <p14:creationId xmlns:p14="http://schemas.microsoft.com/office/powerpoint/2010/main" val="476175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BEC6-300C-EBF9-CABB-AF9673691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DD756-C5EC-66F7-BEA9-6C367766C6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D85CF-BDFE-B9EC-D916-6A2AD878379A}"/>
              </a:ext>
            </a:extLst>
          </p:cNvPr>
          <p:cNvSpPr>
            <a:spLocks noGrp="1"/>
          </p:cNvSpPr>
          <p:nvPr>
            <p:ph type="body" idx="1"/>
          </p:nvPr>
        </p:nvSpPr>
        <p:spPr/>
        <p:txBody>
          <a:bodyPr/>
          <a:lstStyle/>
          <a:p>
            <a:r>
              <a:rPr lang="en-US" dirty="0"/>
              <a:t>This slide shows how the CSF 2.0 outcomes PR.DS and PR.PS translate from today’s reality to a target post-quantum state using the SP 1301 governance lens. Current PR.DS is manual RSA/ECC key management with de facto monitoring, while the target is automated key management with Kyber, </a:t>
            </a:r>
            <a:r>
              <a:rPr lang="en-US" dirty="0" err="1"/>
              <a:t>Dilithium</a:t>
            </a:r>
            <a:r>
              <a:rPr lang="en-US" dirty="0"/>
              <a:t>, and SPHINCS plus real-time visibility into cryptographic events and side-channel anomalies. Current PR.PS is legacy crypto libraries, inconsistent version tracking, and ad-hoc patching; the target is SBOM-tracked PQC libraries, continuous vulnerability scanning in CI/CD, and proactive patching aligned to NIST SP 800-161r1. Together, these shifts move organizations from Tier 2 “Risk Informed” to Tier 3 “Repeatable” maturity, grounded in the CSF 2.0 PR.DS outcome text on data being managed consistent with organizational risk strategy.</a:t>
            </a:r>
          </a:p>
        </p:txBody>
      </p:sp>
      <p:sp>
        <p:nvSpPr>
          <p:cNvPr id="4" name="Slide Number Placeholder 3">
            <a:extLst>
              <a:ext uri="{FF2B5EF4-FFF2-40B4-BE49-F238E27FC236}">
                <a16:creationId xmlns:a16="http://schemas.microsoft.com/office/drawing/2014/main" id="{56BAB432-3350-8CCB-1B93-D5AB9F516DF2}"/>
              </a:ext>
            </a:extLst>
          </p:cNvPr>
          <p:cNvSpPr>
            <a:spLocks noGrp="1"/>
          </p:cNvSpPr>
          <p:nvPr>
            <p:ph type="sldNum" sz="quarter" idx="5"/>
          </p:nvPr>
        </p:nvSpPr>
        <p:spPr/>
        <p:txBody>
          <a:bodyPr/>
          <a:lstStyle/>
          <a:p>
            <a:fld id="{8AA39B21-60E2-4593-B64E-3632996FCCB0}" type="slidenum">
              <a:rPr lang="en-US" smtClean="0"/>
              <a:t>14</a:t>
            </a:fld>
            <a:endParaRPr lang="en-US"/>
          </a:p>
        </p:txBody>
      </p:sp>
    </p:spTree>
    <p:extLst>
      <p:ext uri="{BB962C8B-B14F-4D97-AF65-F5344CB8AC3E}">
        <p14:creationId xmlns:p14="http://schemas.microsoft.com/office/powerpoint/2010/main" val="859705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56A8-FB31-D02E-6753-AC68E87068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14220-6D75-89BE-0895-6349FCD7A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1C3E0-593E-0FF1-ED04-4F9CB5FA79C1}"/>
              </a:ext>
            </a:extLst>
          </p:cNvPr>
          <p:cNvSpPr>
            <a:spLocks noGrp="1"/>
          </p:cNvSpPr>
          <p:nvPr>
            <p:ph type="body" idx="1"/>
          </p:nvPr>
        </p:nvSpPr>
        <p:spPr/>
        <p:txBody>
          <a:bodyPr/>
          <a:lstStyle/>
          <a:p>
            <a:r>
              <a:rPr lang="en-US" dirty="0"/>
              <a:t>This slide demonstrates how my entire analysis pipeline is reproducible and transparent. From Week 9, I've containerized the entire environment using Docker: a single command—docker build -t </a:t>
            </a:r>
            <a:r>
              <a:rPr lang="en-US" dirty="0" err="1"/>
              <a:t>pqcdev</a:t>
            </a:r>
            <a:r>
              <a:rPr lang="en-US" dirty="0"/>
              <a:t> . &amp;&amp; docker run --rm -v  $(</a:t>
            </a:r>
            <a:r>
              <a:rPr lang="en-US" dirty="0" err="1"/>
              <a:t>pwd</a:t>
            </a:r>
            <a:r>
              <a:rPr lang="en-US" dirty="0"/>
              <a:t>):/work </a:t>
            </a:r>
            <a:r>
              <a:rPr lang="en-US" dirty="0" err="1"/>
              <a:t>pqcdev</a:t>
            </a:r>
            <a:r>
              <a:rPr lang="en-US" dirty="0"/>
              <a:t>—executes the complete analysis. The first step builds a Docker image named "</a:t>
            </a:r>
            <a:r>
              <a:rPr lang="en-US" dirty="0" err="1"/>
              <a:t>pqcdev</a:t>
            </a:r>
            <a:r>
              <a:rPr lang="en-US" dirty="0"/>
              <a:t>" that includes Python 3.11, pandas, and all analysis scripts, eliminating local dependency conflicts. The second step runs the container, mounts the project directory as /work inside, executes the analysis pipeline, and cleans up after itself with the --rm flag. This generates two critical output files: docs/latencybyalgorithm.txt (average execution time in milliseconds by PQC algorithm, evidence for RQ-D1 performance metrics across sectors) and docs/attackratebysector.txt (attack success rate by organizational sector, evidence for RQ-C2 side-channel risk quantification). </a:t>
            </a:r>
          </a:p>
          <a:p>
            <a:r>
              <a:rPr lang="en-US" dirty="0"/>
              <a:t>Anyone can run this exact command and produce identical results regardless of their local Python or library versions. This guarantees transparency and scientific rigor in my capstone research.</a:t>
            </a:r>
          </a:p>
        </p:txBody>
      </p:sp>
      <p:sp>
        <p:nvSpPr>
          <p:cNvPr id="4" name="Slide Number Placeholder 3">
            <a:extLst>
              <a:ext uri="{FF2B5EF4-FFF2-40B4-BE49-F238E27FC236}">
                <a16:creationId xmlns:a16="http://schemas.microsoft.com/office/drawing/2014/main" id="{13CF7C14-1803-321E-A123-AA197F16806E}"/>
              </a:ext>
            </a:extLst>
          </p:cNvPr>
          <p:cNvSpPr>
            <a:spLocks noGrp="1"/>
          </p:cNvSpPr>
          <p:nvPr>
            <p:ph type="sldNum" sz="quarter" idx="5"/>
          </p:nvPr>
        </p:nvSpPr>
        <p:spPr/>
        <p:txBody>
          <a:bodyPr/>
          <a:lstStyle/>
          <a:p>
            <a:fld id="{8AA39B21-60E2-4593-B64E-3632996FCCB0}" type="slidenum">
              <a:rPr lang="en-US" smtClean="0"/>
              <a:t>15</a:t>
            </a:fld>
            <a:endParaRPr lang="en-US"/>
          </a:p>
        </p:txBody>
      </p:sp>
    </p:spTree>
    <p:extLst>
      <p:ext uri="{BB962C8B-B14F-4D97-AF65-F5344CB8AC3E}">
        <p14:creationId xmlns:p14="http://schemas.microsoft.com/office/powerpoint/2010/main" val="21203881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017A2-A7BE-576B-5B62-2D556A657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13423-14B0-89A9-6A1D-DB8CD3249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06191-357A-9C9C-0A19-FD1C66A3B3D0}"/>
              </a:ext>
            </a:extLst>
          </p:cNvPr>
          <p:cNvSpPr>
            <a:spLocks noGrp="1"/>
          </p:cNvSpPr>
          <p:nvPr>
            <p:ph type="body" idx="1"/>
          </p:nvPr>
        </p:nvSpPr>
        <p:spPr/>
        <p:txBody>
          <a:bodyPr/>
          <a:lstStyle/>
          <a:p>
            <a:r>
              <a:rPr lang="en-US" sz="1200" b="0" kern="1200" dirty="0">
                <a:solidFill>
                  <a:schemeClr val="tx1"/>
                </a:solidFill>
                <a:effectLst/>
                <a:latin typeface="+mn-lt"/>
                <a:ea typeface="+mn-ea"/>
                <a:cs typeface="+mn-cs"/>
              </a:rPr>
              <a:t>This research delivers three layers of impact that extend far beyond academia. </a:t>
            </a:r>
          </a:p>
          <a:p>
            <a:r>
              <a:rPr lang="en-US" sz="1200" b="0" kern="1200" dirty="0">
                <a:solidFill>
                  <a:schemeClr val="tx1"/>
                </a:solidFill>
                <a:effectLst/>
                <a:latin typeface="+mn-lt"/>
                <a:ea typeface="+mn-ea"/>
                <a:cs typeface="+mn-cs"/>
              </a:rPr>
              <a:t>First, research impact: I've provided empirical evidence for PQC deployment across Finance, Healthcare, and IoT—three critical sectors that currently lack consensus on algorithm selection, performance baselines, and governance alignment. This fills a documented gap and delivers a CSF 2.0-aligned migration </a:t>
            </a:r>
          </a:p>
          <a:p>
            <a:r>
              <a:rPr lang="en-US" sz="1200" b="0" kern="1200" dirty="0">
                <a:solidFill>
                  <a:schemeClr val="tx1"/>
                </a:solidFill>
                <a:effectLst/>
                <a:latin typeface="+mn-lt"/>
                <a:ea typeface="+mn-ea"/>
                <a:cs typeface="+mn-cs"/>
              </a:rPr>
              <a:t>roadmap. </a:t>
            </a:r>
          </a:p>
          <a:p>
            <a:r>
              <a:rPr lang="en-US" sz="1200" b="0" kern="1200" dirty="0">
                <a:solidFill>
                  <a:schemeClr val="tx1"/>
                </a:solidFill>
                <a:effectLst/>
                <a:latin typeface="+mn-lt"/>
                <a:ea typeface="+mn-ea"/>
                <a:cs typeface="+mn-cs"/>
              </a:rPr>
              <a:t>Second, organizational value: my findings offer sector-specific algorithm recommendations (Kyber sub-30ms for Finance; SPHINCS for Healthcare archival), a risk-managed transition playbook (phased rollout, parallel crypto stacks, rollback procedures), a standards compliance framework (CSF 2.0 </a:t>
            </a:r>
            <a:r>
              <a:rPr lang="en-US" sz="1200" b="0" kern="1200" dirty="0" err="1">
                <a:solidFill>
                  <a:schemeClr val="tx1"/>
                </a:solidFill>
                <a:effectLst/>
                <a:latin typeface="+mn-lt"/>
                <a:ea typeface="+mn-ea"/>
                <a:cs typeface="+mn-cs"/>
              </a:rPr>
              <a:t>Current→Target</a:t>
            </a:r>
            <a:r>
              <a:rPr lang="en-US" sz="1200" b="0" kern="1200" dirty="0">
                <a:solidFill>
                  <a:schemeClr val="tx1"/>
                </a:solidFill>
                <a:effectLst/>
                <a:latin typeface="+mn-lt"/>
                <a:ea typeface="+mn-ea"/>
                <a:cs typeface="+mn-cs"/>
              </a:rPr>
              <a:t> Profile integration), and a metrics-driven governance model (</a:t>
            </a:r>
            <a:r>
              <a:rPr lang="en-US" sz="1200" b="0" kern="1200" dirty="0" err="1">
                <a:solidFill>
                  <a:schemeClr val="tx1"/>
                </a:solidFill>
                <a:effectLst/>
                <a:latin typeface="+mn-lt"/>
                <a:ea typeface="+mn-ea"/>
                <a:cs typeface="+mn-cs"/>
              </a:rPr>
              <a:t>Risk→Requirement→Metric→Evidence</a:t>
            </a:r>
            <a:r>
              <a:rPr lang="en-US" sz="1200" b="0" kern="1200" dirty="0">
                <a:solidFill>
                  <a:schemeClr val="tx1"/>
                </a:solidFill>
                <a:effectLst/>
                <a:latin typeface="+mn-lt"/>
                <a:ea typeface="+mn-ea"/>
                <a:cs typeface="+mn-cs"/>
              </a:rPr>
              <a:t> traceability). Third, scalability: this reproducible methodology—accessible via the GitHub repository—enables adoption by CISA and NSA for quantum readiness initiatives, private organizations managing their PQC transitions, and government agencies aligning with NIST standards. My next steps are ambitious but achievable: expand the qualitative cohort – more interviews. Review more research papers, publish findings in peer-reviewed venues (IEEE, ACM, NIST Journal), and contribute through blogs , articles related to </a:t>
            </a:r>
            <a:r>
              <a:rPr lang="en-US" sz="1200" b="0" kern="1200" dirty="0" err="1">
                <a:solidFill>
                  <a:schemeClr val="tx1"/>
                </a:solidFill>
                <a:effectLst/>
                <a:latin typeface="+mn-lt"/>
                <a:ea typeface="+mn-ea"/>
                <a:cs typeface="+mn-cs"/>
              </a:rPr>
              <a:t>PQC.The</a:t>
            </a:r>
            <a:r>
              <a:rPr lang="en-US" sz="1200" b="0" kern="1200" dirty="0">
                <a:solidFill>
                  <a:schemeClr val="tx1"/>
                </a:solidFill>
                <a:effectLst/>
                <a:latin typeface="+mn-lt"/>
                <a:ea typeface="+mn-ea"/>
                <a:cs typeface="+mn-cs"/>
              </a:rPr>
              <a:t> full repository at github.com/ibhandari072021/</a:t>
            </a:r>
            <a:r>
              <a:rPr lang="en-US" sz="1200" b="0" kern="1200" dirty="0" err="1">
                <a:solidFill>
                  <a:schemeClr val="tx1"/>
                </a:solidFill>
                <a:effectLst/>
                <a:latin typeface="+mn-lt"/>
                <a:ea typeface="+mn-ea"/>
                <a:cs typeface="+mn-cs"/>
              </a:rPr>
              <a:t>PostQuantumCryptography</a:t>
            </a:r>
            <a:r>
              <a:rPr lang="en-US" sz="1200" b="0" kern="1200" dirty="0">
                <a:solidFill>
                  <a:schemeClr val="tx1"/>
                </a:solidFill>
                <a:effectLst/>
                <a:latin typeface="+mn-lt"/>
                <a:ea typeface="+mn-ea"/>
                <a:cs typeface="+mn-cs"/>
              </a:rPr>
              <a:t> contains all artifacts and the reproducible pipeline.</a:t>
            </a:r>
          </a:p>
          <a:p>
            <a:endParaRPr lang="en-US" dirty="0"/>
          </a:p>
        </p:txBody>
      </p:sp>
      <p:sp>
        <p:nvSpPr>
          <p:cNvPr id="4" name="Slide Number Placeholder 3">
            <a:extLst>
              <a:ext uri="{FF2B5EF4-FFF2-40B4-BE49-F238E27FC236}">
                <a16:creationId xmlns:a16="http://schemas.microsoft.com/office/drawing/2014/main" id="{59A2CA2F-1843-A061-AE4B-B0BFFABBABFC}"/>
              </a:ext>
            </a:extLst>
          </p:cNvPr>
          <p:cNvSpPr>
            <a:spLocks noGrp="1"/>
          </p:cNvSpPr>
          <p:nvPr>
            <p:ph type="sldNum" sz="quarter" idx="5"/>
          </p:nvPr>
        </p:nvSpPr>
        <p:spPr/>
        <p:txBody>
          <a:bodyPr/>
          <a:lstStyle/>
          <a:p>
            <a:fld id="{8AA39B21-60E2-4593-B64E-3632996FCCB0}" type="slidenum">
              <a:rPr lang="en-US" smtClean="0"/>
              <a:t>16</a:t>
            </a:fld>
            <a:endParaRPr lang="en-US"/>
          </a:p>
        </p:txBody>
      </p:sp>
    </p:spTree>
    <p:extLst>
      <p:ext uri="{BB962C8B-B14F-4D97-AF65-F5344CB8AC3E}">
        <p14:creationId xmlns:p14="http://schemas.microsoft.com/office/powerpoint/2010/main" val="24971838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B23C7-2258-E7C0-D76E-973D55BFE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D3553-ACE2-BAC6-B496-DA3D56DC1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B794A-A0DD-5627-3837-E1E61A4F88B0}"/>
              </a:ext>
            </a:extLst>
          </p:cNvPr>
          <p:cNvSpPr>
            <a:spLocks noGrp="1"/>
          </p:cNvSpPr>
          <p:nvPr>
            <p:ph type="body" idx="1"/>
          </p:nvPr>
        </p:nvSpPr>
        <p:spPr/>
        <p:txBody>
          <a:bodyPr/>
          <a:lstStyle/>
          <a:p>
            <a:r>
              <a:rPr lang="en-US" dirty="0" err="1"/>
              <a:t>Github</a:t>
            </a:r>
            <a:r>
              <a:rPr lang="en-US" dirty="0"/>
              <a:t> repo. Docs/pitch </a:t>
            </a:r>
            <a:r>
              <a:rPr lang="en-US"/>
              <a:t>and Readme</a:t>
            </a:r>
            <a:r>
              <a:rPr lang="en-US" dirty="0"/>
              <a:t>.</a:t>
            </a:r>
            <a:r>
              <a:rPr lang="en-US"/>
              <a:t>md updated</a:t>
            </a:r>
            <a:endParaRPr lang="en-US" dirty="0"/>
          </a:p>
        </p:txBody>
      </p:sp>
      <p:sp>
        <p:nvSpPr>
          <p:cNvPr id="4" name="Slide Number Placeholder 3">
            <a:extLst>
              <a:ext uri="{FF2B5EF4-FFF2-40B4-BE49-F238E27FC236}">
                <a16:creationId xmlns:a16="http://schemas.microsoft.com/office/drawing/2014/main" id="{2FAC5C3D-F328-BDC5-CEFF-460F620BD091}"/>
              </a:ext>
            </a:extLst>
          </p:cNvPr>
          <p:cNvSpPr>
            <a:spLocks noGrp="1"/>
          </p:cNvSpPr>
          <p:nvPr>
            <p:ph type="sldNum" sz="quarter" idx="5"/>
          </p:nvPr>
        </p:nvSpPr>
        <p:spPr/>
        <p:txBody>
          <a:bodyPr/>
          <a:lstStyle/>
          <a:p>
            <a:fld id="{8AA39B21-60E2-4593-B64E-3632996FCCB0}" type="slidenum">
              <a:rPr lang="en-US" smtClean="0"/>
              <a:t>17</a:t>
            </a:fld>
            <a:endParaRPr lang="en-US"/>
          </a:p>
        </p:txBody>
      </p:sp>
    </p:spTree>
    <p:extLst>
      <p:ext uri="{BB962C8B-B14F-4D97-AF65-F5344CB8AC3E}">
        <p14:creationId xmlns:p14="http://schemas.microsoft.com/office/powerpoint/2010/main" val="7862017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C275-0099-A874-B84C-BFD09F8EE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BFDE4-8FBD-04A8-2AA6-251C4FF6A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FE1A84-ADF5-A80C-8A53-EEE560F9BE50}"/>
              </a:ext>
            </a:extLst>
          </p:cNvPr>
          <p:cNvSpPr>
            <a:spLocks noGrp="1"/>
          </p:cNvSpPr>
          <p:nvPr>
            <p:ph type="body" idx="1"/>
          </p:nvPr>
        </p:nvSpPr>
        <p:spPr/>
        <p:txBody>
          <a:bodyPr/>
          <a:lstStyle/>
          <a:p>
            <a:r>
              <a:rPr lang="en-US" dirty="0"/>
              <a:t>Three studies distilled from Week 4/5 systematic review. Ahmed shows algorithm latency variance across sectors (finance &lt;30ms, IoT ~15ms). Epure validates mitigation effectiveness in real pilots. NIST provides governance precedent. All three rows directly cited in Week 6 method justification and Week 8 DMP scope.</a:t>
            </a:r>
          </a:p>
        </p:txBody>
      </p:sp>
      <p:sp>
        <p:nvSpPr>
          <p:cNvPr id="4" name="Slide Number Placeholder 3">
            <a:extLst>
              <a:ext uri="{FF2B5EF4-FFF2-40B4-BE49-F238E27FC236}">
                <a16:creationId xmlns:a16="http://schemas.microsoft.com/office/drawing/2014/main" id="{C43EB73E-43F5-D9D1-373F-593716122203}"/>
              </a:ext>
            </a:extLst>
          </p:cNvPr>
          <p:cNvSpPr>
            <a:spLocks noGrp="1"/>
          </p:cNvSpPr>
          <p:nvPr>
            <p:ph type="sldNum" sz="quarter" idx="5"/>
          </p:nvPr>
        </p:nvSpPr>
        <p:spPr/>
        <p:txBody>
          <a:bodyPr/>
          <a:lstStyle/>
          <a:p>
            <a:fld id="{8AA39B21-60E2-4593-B64E-3632996FCCB0}" type="slidenum">
              <a:rPr lang="en-US" smtClean="0"/>
              <a:t>18</a:t>
            </a:fld>
            <a:endParaRPr lang="en-US"/>
          </a:p>
        </p:txBody>
      </p:sp>
    </p:spTree>
    <p:extLst>
      <p:ext uri="{BB962C8B-B14F-4D97-AF65-F5344CB8AC3E}">
        <p14:creationId xmlns:p14="http://schemas.microsoft.com/office/powerpoint/2010/main" val="337258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2661046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922497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29297612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865111-6F17-4609-B6EE-105F70019A1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3210824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865111-6F17-4609-B6EE-105F70019A14}" type="datetimeFigureOut">
              <a:rPr lang="en-US" smtClean="0"/>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2685674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24865111-6F17-4609-B6EE-105F70019A14}" type="datetimeFigureOut">
              <a:rPr lang="en-US" smtClean="0"/>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3238118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865111-6F17-4609-B6EE-105F70019A14}"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4048359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865111-6F17-4609-B6EE-105F70019A1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3930716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865111-6F17-4609-B6EE-105F70019A14}" type="datetimeFigureOut">
              <a:rPr lang="en-US" smtClean="0"/>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4566862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513660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3389406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877077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08252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1705533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174747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65111-6F17-4609-B6EE-105F70019A14}"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8E47D0-F1D6-4466-A270-F2C4C5D9E503}" type="slidenum">
              <a:rPr lang="en-US" smtClean="0"/>
              <a:t>‹#›</a:t>
            </a:fld>
            <a:endParaRPr lang="en-US"/>
          </a:p>
        </p:txBody>
      </p:sp>
    </p:spTree>
    <p:extLst>
      <p:ext uri="{BB962C8B-B14F-4D97-AF65-F5344CB8AC3E}">
        <p14:creationId xmlns:p14="http://schemas.microsoft.com/office/powerpoint/2010/main" val="88050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4865111-6F17-4609-B6EE-105F70019A14}" type="datetimeFigureOut">
              <a:rPr lang="en-US" smtClean="0"/>
              <a:t>12/7/2025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F8E47D0-F1D6-4466-A270-F2C4C5D9E503}" type="slidenum">
              <a:rPr lang="en-US" smtClean="0"/>
              <a:t>‹#›</a:t>
            </a:fld>
            <a:endParaRPr lang="en-US"/>
          </a:p>
        </p:txBody>
      </p:sp>
    </p:spTree>
    <p:extLst>
      <p:ext uri="{BB962C8B-B14F-4D97-AF65-F5344CB8AC3E}">
        <p14:creationId xmlns:p14="http://schemas.microsoft.com/office/powerpoint/2010/main" val="3192323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28EA-9647-2014-5315-632586946C93}"/>
              </a:ext>
            </a:extLst>
          </p:cNvPr>
          <p:cNvSpPr>
            <a:spLocks noGrp="1"/>
          </p:cNvSpPr>
          <p:nvPr>
            <p:ph type="ctrTitle"/>
          </p:nvPr>
        </p:nvSpPr>
        <p:spPr>
          <a:xfrm>
            <a:off x="621086" y="1358899"/>
            <a:ext cx="9113929" cy="2070101"/>
          </a:xfrm>
        </p:spPr>
        <p:txBody>
          <a:bodyPr>
            <a:normAutofit fontScale="90000"/>
          </a:bodyPr>
          <a:lstStyle/>
          <a:p>
            <a:pPr algn="l"/>
            <a:br>
              <a:rPr lang="en-US" sz="2800" b="1" dirty="0">
                <a:solidFill>
                  <a:schemeClr val="tx2">
                    <a:lumMod val="75000"/>
                  </a:schemeClr>
                </a:solidFill>
              </a:rPr>
            </a:br>
            <a:br>
              <a:rPr lang="en-US" sz="2800" b="1" dirty="0">
                <a:solidFill>
                  <a:schemeClr val="tx2">
                    <a:lumMod val="75000"/>
                  </a:schemeClr>
                </a:solidFill>
              </a:rPr>
            </a:br>
            <a:br>
              <a:rPr lang="en-US" sz="2800" b="1" dirty="0">
                <a:solidFill>
                  <a:schemeClr val="tx2">
                    <a:lumMod val="75000"/>
                  </a:schemeClr>
                </a:solidFill>
              </a:rPr>
            </a:br>
            <a:r>
              <a:rPr lang="en-US" sz="3100" b="1" dirty="0">
                <a:solidFill>
                  <a:schemeClr val="tx2">
                    <a:lumMod val="75000"/>
                  </a:schemeClr>
                </a:solidFill>
              </a:rPr>
              <a:t>Post-Quantum Cryptography Performance, Side-Channel Resilience &amp; Governance Framework:</a:t>
            </a:r>
            <a:br>
              <a:rPr lang="en-US" sz="3100" b="1" dirty="0">
                <a:solidFill>
                  <a:schemeClr val="tx2">
                    <a:lumMod val="75000"/>
                  </a:schemeClr>
                </a:solidFill>
              </a:rPr>
            </a:br>
            <a:r>
              <a:rPr lang="en-US" sz="2700" dirty="0"/>
              <a:t>(Bridging the quantum transition gap through empirical evidence and organizational readiness</a:t>
            </a:r>
            <a:r>
              <a:rPr lang="en-US" sz="2700" b="1" dirty="0"/>
              <a:t>)</a:t>
            </a:r>
          </a:p>
        </p:txBody>
      </p:sp>
      <p:sp>
        <p:nvSpPr>
          <p:cNvPr id="3" name="Subtitle 2">
            <a:extLst>
              <a:ext uri="{FF2B5EF4-FFF2-40B4-BE49-F238E27FC236}">
                <a16:creationId xmlns:a16="http://schemas.microsoft.com/office/drawing/2014/main" id="{BCCE2FCC-DF71-9DE4-C3C6-7979FE6FDBD8}"/>
              </a:ext>
            </a:extLst>
          </p:cNvPr>
          <p:cNvSpPr>
            <a:spLocks noGrp="1"/>
          </p:cNvSpPr>
          <p:nvPr>
            <p:ph type="subTitle" idx="1"/>
          </p:nvPr>
        </p:nvSpPr>
        <p:spPr>
          <a:xfrm>
            <a:off x="130629" y="5737123"/>
            <a:ext cx="7498896" cy="968477"/>
          </a:xfrm>
        </p:spPr>
        <p:txBody>
          <a:bodyPr>
            <a:normAutofit fontScale="25000" lnSpcReduction="20000"/>
          </a:bodyPr>
          <a:lstStyle/>
          <a:p>
            <a:pPr algn="l"/>
            <a:r>
              <a:rPr lang="en-US" sz="7200" b="1" dirty="0">
                <a:solidFill>
                  <a:srgbClr val="7030A0"/>
                </a:solidFill>
                <a:latin typeface="Abadi" panose="020F0502020204030204" pitchFamily="34" charset="0"/>
              </a:rPr>
              <a:t>Instructor – Prof. Faisal Kaleem</a:t>
            </a:r>
          </a:p>
          <a:p>
            <a:pPr algn="l"/>
            <a:r>
              <a:rPr lang="en-US" sz="4000" i="1" dirty="0">
                <a:solidFill>
                  <a:srgbClr val="7030A0"/>
                </a:solidFill>
                <a:latin typeface="Abadi" panose="020F0502020204030204" pitchFamily="34" charset="0"/>
              </a:rPr>
              <a:t> </a:t>
            </a:r>
            <a:r>
              <a:rPr lang="en-US" sz="6400" b="1" i="1" dirty="0">
                <a:solidFill>
                  <a:srgbClr val="7030A0"/>
                </a:solidFill>
                <a:latin typeface="Abadi" panose="020F0502020204030204" pitchFamily="34" charset="0"/>
              </a:rPr>
              <a:t>(Student- Ishita Bhandari | CYBR 698 Cyber Operations Capstone Project</a:t>
            </a:r>
            <a:br>
              <a:rPr lang="en-US" sz="6400" b="1" i="1" dirty="0">
                <a:solidFill>
                  <a:srgbClr val="7030A0"/>
                </a:solidFill>
                <a:latin typeface="Abadi" panose="020F0502020204030204" pitchFamily="34" charset="0"/>
              </a:rPr>
            </a:br>
            <a:r>
              <a:rPr lang="en-US" sz="6400" b="1" i="1" dirty="0">
                <a:solidFill>
                  <a:srgbClr val="7030A0"/>
                </a:solidFill>
                <a:latin typeface="Abadi" panose="020F0502020204030204" pitchFamily="34" charset="0"/>
              </a:rPr>
              <a:t>Cohort 6 | December 2025)</a:t>
            </a:r>
            <a:br>
              <a:rPr lang="en-US" sz="6400" b="1" i="1" dirty="0">
                <a:solidFill>
                  <a:srgbClr val="7030A0"/>
                </a:solidFill>
                <a:latin typeface="Abadi" panose="020F0502020204030204" pitchFamily="34" charset="0"/>
              </a:rPr>
            </a:br>
            <a:r>
              <a:rPr lang="en-US" sz="5600" b="1" i="1" dirty="0">
                <a:solidFill>
                  <a:srgbClr val="7030A0"/>
                </a:solidFill>
                <a:latin typeface="Abadi" panose="020F0502020204030204" pitchFamily="34" charset="0"/>
              </a:rPr>
              <a:t>github.com/ibhandari072021/</a:t>
            </a:r>
            <a:r>
              <a:rPr lang="en-US" sz="5600" b="1" i="1" dirty="0" err="1">
                <a:solidFill>
                  <a:srgbClr val="7030A0"/>
                </a:solidFill>
                <a:latin typeface="Abadi" panose="020F0502020204030204" pitchFamily="34" charset="0"/>
              </a:rPr>
              <a:t>PostQuantumCryptography</a:t>
            </a:r>
            <a:endParaRPr lang="en-US" sz="5600" b="1" i="1" dirty="0">
              <a:solidFill>
                <a:srgbClr val="7030A0"/>
              </a:solidFill>
              <a:latin typeface="Abadi" panose="020F0502020204030204" pitchFamily="34" charset="0"/>
            </a:endParaRPr>
          </a:p>
          <a:p>
            <a:pPr algn="l"/>
            <a:r>
              <a:rPr lang="en-US" sz="6400" b="1" i="1" dirty="0">
                <a:solidFill>
                  <a:srgbClr val="7030A0"/>
                </a:solidFill>
                <a:latin typeface="Abadi" panose="020F0502020204030204" pitchFamily="34" charset="0"/>
              </a:rPr>
              <a:t>      </a:t>
            </a:r>
          </a:p>
        </p:txBody>
      </p:sp>
      <p:cxnSp>
        <p:nvCxnSpPr>
          <p:cNvPr id="9" name="Straight Connector 8">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507719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EF590-E903-14A7-0B2E-5975194391F9}"/>
              </a:ext>
            </a:extLst>
          </p:cNvPr>
          <p:cNvSpPr>
            <a:spLocks noGrp="1"/>
          </p:cNvSpPr>
          <p:nvPr>
            <p:ph type="title"/>
          </p:nvPr>
        </p:nvSpPr>
        <p:spPr>
          <a:xfrm>
            <a:off x="677333" y="609600"/>
            <a:ext cx="3851123" cy="1320800"/>
          </a:xfrm>
        </p:spPr>
        <p:txBody>
          <a:bodyPr>
            <a:normAutofit/>
          </a:bodyPr>
          <a:lstStyle/>
          <a:p>
            <a:r>
              <a:rPr lang="en-US" b="1" dirty="0">
                <a:latin typeface="Aptos" panose="020B0004020202020204" pitchFamily="34" charset="0"/>
                <a:ea typeface="+mj-lt"/>
                <a:cs typeface="+mj-lt"/>
              </a:rPr>
              <a:t>Agenda:</a:t>
            </a:r>
            <a:endParaRPr lang="en-US" sz="3300" b="1" dirty="0">
              <a:latin typeface="Aptos" panose="020B0004020202020204" pitchFamily="34" charset="0"/>
            </a:endParaRPr>
          </a:p>
        </p:txBody>
      </p:sp>
      <p:sp>
        <p:nvSpPr>
          <p:cNvPr id="3" name="Content Placeholder 2">
            <a:extLst>
              <a:ext uri="{FF2B5EF4-FFF2-40B4-BE49-F238E27FC236}">
                <a16:creationId xmlns:a16="http://schemas.microsoft.com/office/drawing/2014/main" id="{0BC5C108-DBF3-63E2-5D60-F781F0AD04DB}"/>
              </a:ext>
            </a:extLst>
          </p:cNvPr>
          <p:cNvSpPr>
            <a:spLocks noGrp="1"/>
          </p:cNvSpPr>
          <p:nvPr>
            <p:ph idx="1"/>
          </p:nvPr>
        </p:nvSpPr>
        <p:spPr>
          <a:xfrm>
            <a:off x="420159" y="1485594"/>
            <a:ext cx="4108297" cy="4946854"/>
          </a:xfrm>
        </p:spPr>
        <p:txBody>
          <a:bodyPr vert="horz" lIns="91440" tIns="45720" rIns="91440" bIns="45720" rtlCol="0" anchor="t">
            <a:normAutofit fontScale="32500" lnSpcReduction="20000"/>
          </a:bodyPr>
          <a:lstStyle/>
          <a:p>
            <a:endParaRPr lang="en-US" dirty="0"/>
          </a:p>
          <a:p>
            <a:r>
              <a:rPr lang="en-US" sz="3700" b="1" dirty="0">
                <a:latin typeface="Aptos"/>
                <a:ea typeface="+mn-lt"/>
                <a:cs typeface="+mn-lt"/>
              </a:rPr>
              <a:t>Why Now: Quantum Threat &amp; Migration Urgency</a:t>
            </a:r>
          </a:p>
          <a:p>
            <a:r>
              <a:rPr lang="en-US" sz="3700" b="1" dirty="0">
                <a:latin typeface="Aptos"/>
                <a:ea typeface="+mn-lt"/>
                <a:cs typeface="+mn-lt"/>
              </a:rPr>
              <a:t>US Govt Readiness timeline (Ahmed et al. (2025))</a:t>
            </a:r>
          </a:p>
          <a:p>
            <a:r>
              <a:rPr lang="en-US" sz="3700" b="1" dirty="0">
                <a:latin typeface="Aptos"/>
                <a:ea typeface="+mn-lt"/>
                <a:cs typeface="+mn-lt"/>
              </a:rPr>
              <a:t>PHASE 1: NIST Develops New Standards (2016–2024)</a:t>
            </a:r>
          </a:p>
          <a:p>
            <a:r>
              <a:rPr lang="en-US" sz="3700" b="1" dirty="0">
                <a:latin typeface="Aptos"/>
                <a:ea typeface="+mn-lt"/>
                <a:cs typeface="+mn-lt"/>
              </a:rPr>
              <a:t>PHASE 2: Government Transition Plan (2022–2030)</a:t>
            </a:r>
          </a:p>
          <a:p>
            <a:r>
              <a:rPr lang="en-US" sz="3700" b="1" dirty="0">
                <a:latin typeface="Aptos"/>
                <a:ea typeface="+mn-lt"/>
                <a:cs typeface="+mn-lt"/>
              </a:rPr>
              <a:t>Evidence Table – Performance and Mitigation baseline</a:t>
            </a:r>
          </a:p>
          <a:p>
            <a:r>
              <a:rPr lang="en-US" sz="3700" b="1" dirty="0">
                <a:latin typeface="Aptos"/>
                <a:ea typeface="+mn-lt"/>
                <a:cs typeface="+mn-lt"/>
              </a:rPr>
              <a:t>Method- Mixed-Methods analysis pipeline</a:t>
            </a:r>
          </a:p>
          <a:p>
            <a:r>
              <a:rPr lang="en-US" sz="3700" b="1" dirty="0">
                <a:latin typeface="Aptos"/>
                <a:ea typeface="+mn-lt"/>
                <a:cs typeface="+mn-lt"/>
              </a:rPr>
              <a:t>Standards Alignment: CSF 2.0 &amp; Zero Trust</a:t>
            </a:r>
          </a:p>
          <a:p>
            <a:r>
              <a:rPr lang="en-US" sz="3700" b="1" dirty="0">
                <a:latin typeface="Aptos"/>
                <a:ea typeface="+mn-lt"/>
                <a:cs typeface="+mn-lt"/>
              </a:rPr>
              <a:t>Ethics, Data Management and Supply Chain Safeguards</a:t>
            </a:r>
          </a:p>
          <a:p>
            <a:r>
              <a:rPr lang="en-US" sz="3700" b="1" dirty="0">
                <a:latin typeface="Aptos"/>
                <a:ea typeface="+mn-lt"/>
                <a:cs typeface="+mn-lt"/>
              </a:rPr>
              <a:t>Evaluation Plan : Metrics and Traceability Chain</a:t>
            </a:r>
          </a:p>
          <a:p>
            <a:r>
              <a:rPr lang="en-US" sz="3700" b="1" dirty="0">
                <a:latin typeface="Aptos"/>
                <a:ea typeface="+mn-lt"/>
                <a:cs typeface="+mn-lt"/>
              </a:rPr>
              <a:t> CSF Current </a:t>
            </a:r>
            <a:r>
              <a:rPr lang="en-US" sz="3700" b="1" dirty="0">
                <a:latin typeface="Aptos"/>
                <a:ea typeface="+mn-lt"/>
                <a:cs typeface="+mn-lt"/>
                <a:sym typeface="Wingdings" panose="05000000000000000000" pitchFamily="2" charset="2"/>
              </a:rPr>
              <a:t> Target profile (SP 1301 approach)</a:t>
            </a:r>
            <a:endParaRPr lang="en-US" sz="3700" b="1" dirty="0">
              <a:latin typeface="Aptos"/>
              <a:ea typeface="+mn-lt"/>
              <a:cs typeface="+mn-lt"/>
            </a:endParaRPr>
          </a:p>
          <a:p>
            <a:r>
              <a:rPr lang="en-US" sz="3700" b="1" dirty="0">
                <a:latin typeface="Aptos"/>
                <a:ea typeface="+mn-lt"/>
                <a:cs typeface="+mn-lt"/>
              </a:rPr>
              <a:t>Reproducibility – One Command Run</a:t>
            </a:r>
          </a:p>
          <a:p>
            <a:r>
              <a:rPr lang="en-US" sz="3700" b="1" dirty="0">
                <a:latin typeface="Aptos"/>
                <a:ea typeface="+mn-lt"/>
                <a:cs typeface="+mn-lt"/>
              </a:rPr>
              <a:t>Impact and Next Steps – Research Value and Scalability</a:t>
            </a:r>
          </a:p>
          <a:p>
            <a:r>
              <a:rPr lang="en-US" sz="3700" b="1" dirty="0">
                <a:latin typeface="Aptos"/>
                <a:ea typeface="+mn-lt"/>
                <a:cs typeface="+mn-lt"/>
              </a:rPr>
              <a:t>References</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458049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E41BD-B4AE-849C-0329-CFB198654008}"/>
              </a:ext>
            </a:extLst>
          </p:cNvPr>
          <p:cNvSpPr>
            <a:spLocks noGrp="1"/>
          </p:cNvSpPr>
          <p:nvPr>
            <p:ph type="title"/>
          </p:nvPr>
        </p:nvSpPr>
        <p:spPr>
          <a:xfrm>
            <a:off x="842597" y="209550"/>
            <a:ext cx="9377728" cy="734351"/>
          </a:xfrm>
        </p:spPr>
        <p:txBody>
          <a:bodyPr>
            <a:noAutofit/>
          </a:bodyPr>
          <a:lstStyle/>
          <a:p>
            <a:pPr>
              <a:lnSpc>
                <a:spcPct val="90000"/>
              </a:lnSpc>
            </a:pPr>
            <a:r>
              <a:rPr lang="en-US" b="1" dirty="0"/>
              <a:t>Why Now: Quantum Threat &amp; Migration Urgency</a:t>
            </a:r>
            <a:endParaRPr lang="en-US" b="1" dirty="0">
              <a:latin typeface="Aptos" panose="020B0004020202020204" pitchFamily="34" charset="0"/>
              <a:ea typeface="+mj-lt"/>
              <a:cs typeface="+mj-lt"/>
            </a:endParaRPr>
          </a:p>
        </p:txBody>
      </p:sp>
      <p:sp>
        <p:nvSpPr>
          <p:cNvPr id="3" name="Content Placeholder 2">
            <a:extLst>
              <a:ext uri="{FF2B5EF4-FFF2-40B4-BE49-F238E27FC236}">
                <a16:creationId xmlns:a16="http://schemas.microsoft.com/office/drawing/2014/main" id="{1B995F5F-02C4-B984-64ED-868ADB6D08F4}"/>
              </a:ext>
            </a:extLst>
          </p:cNvPr>
          <p:cNvSpPr>
            <a:spLocks noGrp="1"/>
          </p:cNvSpPr>
          <p:nvPr>
            <p:ph idx="1"/>
          </p:nvPr>
        </p:nvSpPr>
        <p:spPr>
          <a:xfrm>
            <a:off x="842597" y="1488614"/>
            <a:ext cx="8453803" cy="4387090"/>
          </a:xfrm>
        </p:spPr>
        <p:txBody>
          <a:bodyPr vert="horz" lIns="91440" tIns="45720" rIns="91440" bIns="45720" rtlCol="0">
            <a:normAutofit lnSpcReduction="10000"/>
          </a:bodyPr>
          <a:lstStyle/>
          <a:p>
            <a:r>
              <a:rPr lang="en-US" b="1" dirty="0"/>
              <a:t>Classical cryptography obsolescence:</a:t>
            </a:r>
            <a:r>
              <a:rPr lang="en-US" dirty="0"/>
              <a:t> Quantum computing (5–10 years forecast) breaks RSA/ECC. Organizations must migrate to NIST-approved PQC before threat maturity.</a:t>
            </a:r>
          </a:p>
          <a:p>
            <a:r>
              <a:rPr lang="en-US" b="1" dirty="0"/>
              <a:t>Sector-specific constraints:</a:t>
            </a:r>
            <a:r>
              <a:rPr lang="en-US" dirty="0"/>
              <a:t> Finance requires sub-millisecond latency, healthcare demands decades-long data integrity, IoT faces resource limits- yet no unified deployment guidance exists.</a:t>
            </a:r>
          </a:p>
          <a:p>
            <a:r>
              <a:rPr lang="en-US" b="1" dirty="0"/>
              <a:t>Governance gap:</a:t>
            </a:r>
            <a:r>
              <a:rPr lang="en-US" dirty="0"/>
              <a:t> Organizations lack framework for compliant, risk-managed PQC transitions aligned with CSF 2.0 and NIST standards.</a:t>
            </a:r>
          </a:p>
          <a:p>
            <a:endParaRPr lang="en-US" dirty="0"/>
          </a:p>
          <a:p>
            <a:pPr marL="0" indent="0">
              <a:buNone/>
            </a:pPr>
            <a:r>
              <a:rPr lang="en-US" b="1" dirty="0"/>
              <a:t>EVIDENCE SNAPSHOT</a:t>
            </a:r>
            <a:br>
              <a:rPr lang="en-US" b="1" dirty="0"/>
            </a:br>
            <a:br>
              <a:rPr lang="en-US" b="1" dirty="0"/>
            </a:br>
            <a:r>
              <a:rPr lang="en-US" b="1" dirty="0"/>
              <a:t>Study: Ahmed et al. (2025)</a:t>
            </a:r>
            <a:br>
              <a:rPr lang="en-US" b="1" dirty="0"/>
            </a:br>
            <a:r>
              <a:rPr lang="en-US" b="1" dirty="0"/>
              <a:t>Finding: Kyber and </a:t>
            </a:r>
            <a:r>
              <a:rPr lang="en-US" b="1" dirty="0" err="1"/>
              <a:t>Dilithium</a:t>
            </a:r>
            <a:r>
              <a:rPr lang="en-US" b="1" dirty="0"/>
              <a:t> achieve &lt;30 </a:t>
            </a:r>
            <a:r>
              <a:rPr lang="en-US" b="1" dirty="0" err="1"/>
              <a:t>ms</a:t>
            </a:r>
            <a:r>
              <a:rPr lang="en-US" b="1" dirty="0"/>
              <a:t> latency in finance; SPHINCS preferred for archival (signature longevity)</a:t>
            </a:r>
            <a:br>
              <a:rPr lang="en-US" b="1" dirty="0"/>
            </a:br>
            <a:r>
              <a:rPr lang="en-US" b="1" dirty="0"/>
              <a:t>Impact: Validates sector-specific algorithm selection</a:t>
            </a:r>
            <a:endParaRPr lang="en-US" dirty="0"/>
          </a:p>
        </p:txBody>
      </p:sp>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221536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1305-8939-C810-49AE-9FD2401373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9B716-1AF7-6A59-496E-2C6E9AA95611}"/>
              </a:ext>
            </a:extLst>
          </p:cNvPr>
          <p:cNvSpPr>
            <a:spLocks noGrp="1"/>
          </p:cNvSpPr>
          <p:nvPr>
            <p:ph type="title"/>
          </p:nvPr>
        </p:nvSpPr>
        <p:spPr>
          <a:xfrm>
            <a:off x="82433" y="96463"/>
            <a:ext cx="9416130" cy="1181494"/>
          </a:xfrm>
        </p:spPr>
        <p:txBody>
          <a:bodyPr>
            <a:noAutofit/>
          </a:bodyPr>
          <a:lstStyle/>
          <a:p>
            <a:pPr>
              <a:lnSpc>
                <a:spcPct val="90000"/>
              </a:lnSpc>
            </a:pPr>
            <a:r>
              <a:rPr lang="en-US" b="1" dirty="0"/>
              <a:t>US Govt Readiness timeline (Ahmed et al. (2025))</a:t>
            </a:r>
            <a:endParaRPr lang="en-US" b="1" dirty="0">
              <a:latin typeface="Aptos" panose="020B0004020202020204" pitchFamily="34" charset="0"/>
              <a:ea typeface="+mj-lt"/>
              <a:cs typeface="+mj-lt"/>
            </a:endParaRPr>
          </a:p>
        </p:txBody>
      </p:sp>
      <p:pic>
        <p:nvPicPr>
          <p:cNvPr id="7" name="Picture 6">
            <a:extLst>
              <a:ext uri="{FF2B5EF4-FFF2-40B4-BE49-F238E27FC236}">
                <a16:creationId xmlns:a16="http://schemas.microsoft.com/office/drawing/2014/main" id="{66F5DB45-42E3-085F-6705-74DF3FD3C473}"/>
              </a:ext>
            </a:extLst>
          </p:cNvPr>
          <p:cNvPicPr>
            <a:picLocks noChangeAspect="1"/>
          </p:cNvPicPr>
          <p:nvPr/>
        </p:nvPicPr>
        <p:blipFill>
          <a:blip r:embed="rId3"/>
          <a:stretch>
            <a:fillRect/>
          </a:stretch>
        </p:blipFill>
        <p:spPr>
          <a:xfrm>
            <a:off x="0" y="1082015"/>
            <a:ext cx="10961783" cy="5483579"/>
          </a:xfrm>
          <a:prstGeom prst="rect">
            <a:avLst/>
          </a:prstGeom>
        </p:spPr>
      </p:pic>
    </p:spTree>
    <p:extLst>
      <p:ext uri="{BB962C8B-B14F-4D97-AF65-F5344CB8AC3E}">
        <p14:creationId xmlns:p14="http://schemas.microsoft.com/office/powerpoint/2010/main" val="26879893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4F050-EC31-84D8-BEC7-16FBE742B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FD6B7-C869-7445-ABB1-20B56FB670BF}"/>
              </a:ext>
            </a:extLst>
          </p:cNvPr>
          <p:cNvSpPr>
            <a:spLocks noGrp="1"/>
          </p:cNvSpPr>
          <p:nvPr>
            <p:ph type="title"/>
          </p:nvPr>
        </p:nvSpPr>
        <p:spPr>
          <a:xfrm>
            <a:off x="82433" y="96463"/>
            <a:ext cx="9416130" cy="1319742"/>
          </a:xfrm>
        </p:spPr>
        <p:txBody>
          <a:bodyPr>
            <a:noAutofit/>
          </a:bodyPr>
          <a:lstStyle/>
          <a:p>
            <a:pPr>
              <a:lnSpc>
                <a:spcPct val="90000"/>
              </a:lnSpc>
            </a:pPr>
            <a:r>
              <a:rPr lang="en-US" b="1" dirty="0"/>
              <a:t>US Govt Readiness timeline (Ahmed et al. (2025))- Timeline breakdown (2016-2030)</a:t>
            </a:r>
            <a:br>
              <a:rPr lang="en-US" b="1" dirty="0"/>
            </a:br>
            <a:r>
              <a:rPr lang="en-US" sz="1800" b="1" dirty="0"/>
              <a:t>PHASE 1: NIST Develops New Standards (2016–2024)</a:t>
            </a:r>
            <a:br>
              <a:rPr lang="en-US" dirty="0"/>
            </a:br>
            <a:br>
              <a:rPr lang="en-US" dirty="0"/>
            </a:br>
            <a:endParaRPr lang="en-US" b="1" dirty="0">
              <a:latin typeface="Aptos" panose="020B0004020202020204" pitchFamily="34" charset="0"/>
              <a:ea typeface="+mj-lt"/>
              <a:cs typeface="+mj-lt"/>
            </a:endParaRPr>
          </a:p>
        </p:txBody>
      </p:sp>
      <p:graphicFrame>
        <p:nvGraphicFramePr>
          <p:cNvPr id="6" name="Table 5">
            <a:extLst>
              <a:ext uri="{FF2B5EF4-FFF2-40B4-BE49-F238E27FC236}">
                <a16:creationId xmlns:a16="http://schemas.microsoft.com/office/drawing/2014/main" id="{5A5CAA27-001E-EE8F-0579-4454B4483E54}"/>
              </a:ext>
            </a:extLst>
          </p:cNvPr>
          <p:cNvGraphicFramePr>
            <a:graphicFrameLocks noGrp="1"/>
          </p:cNvGraphicFramePr>
          <p:nvPr>
            <p:extLst>
              <p:ext uri="{D42A27DB-BD31-4B8C-83A1-F6EECF244321}">
                <p14:modId xmlns:p14="http://schemas.microsoft.com/office/powerpoint/2010/main" val="3271602150"/>
              </p:ext>
            </p:extLst>
          </p:nvPr>
        </p:nvGraphicFramePr>
        <p:xfrm>
          <a:off x="195827" y="2706881"/>
          <a:ext cx="9996388" cy="2346960"/>
        </p:xfrm>
        <a:graphic>
          <a:graphicData uri="http://schemas.openxmlformats.org/drawingml/2006/table">
            <a:tbl>
              <a:tblPr/>
              <a:tblGrid>
                <a:gridCol w="3138710">
                  <a:extLst>
                    <a:ext uri="{9D8B030D-6E8A-4147-A177-3AD203B41FA5}">
                      <a16:colId xmlns:a16="http://schemas.microsoft.com/office/drawing/2014/main" val="3500229496"/>
                    </a:ext>
                  </a:extLst>
                </a:gridCol>
                <a:gridCol w="3138710">
                  <a:extLst>
                    <a:ext uri="{9D8B030D-6E8A-4147-A177-3AD203B41FA5}">
                      <a16:colId xmlns:a16="http://schemas.microsoft.com/office/drawing/2014/main" val="1533868549"/>
                    </a:ext>
                  </a:extLst>
                </a:gridCol>
                <a:gridCol w="3718968">
                  <a:extLst>
                    <a:ext uri="{9D8B030D-6E8A-4147-A177-3AD203B41FA5}">
                      <a16:colId xmlns:a16="http://schemas.microsoft.com/office/drawing/2014/main" val="1405205163"/>
                    </a:ext>
                  </a:extLst>
                </a:gridCol>
              </a:tblGrid>
              <a:tr h="379817">
                <a:tc>
                  <a:txBody>
                    <a:bodyPr/>
                    <a:lstStyle/>
                    <a:p>
                      <a:pPr algn="l" fontAlgn="t" latinLnBrk="0">
                        <a:buNone/>
                      </a:pPr>
                      <a:r>
                        <a:rPr lang="en-US" b="0" dirty="0">
                          <a:effectLst/>
                        </a:rPr>
                        <a:t>Date</a:t>
                      </a:r>
                    </a:p>
                  </a:txBody>
                  <a:tcPr marL="76200" marR="76200" marT="76200" marB="7620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t" latinLnBrk="0">
                        <a:buNone/>
                      </a:pPr>
                      <a:r>
                        <a:rPr lang="en-US" b="0" dirty="0">
                          <a:effectLst/>
                        </a:rPr>
                        <a:t>What Happens</a:t>
                      </a:r>
                    </a:p>
                  </a:txBody>
                  <a:tcPr marL="76200" marR="76200" marT="76200" marB="7620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algn="l" fontAlgn="t" latinLnBrk="0">
                        <a:buNone/>
                      </a:pPr>
                      <a:r>
                        <a:rPr lang="en-US" b="0">
                          <a:effectLst/>
                        </a:rPr>
                        <a:t>Why</a:t>
                      </a:r>
                    </a:p>
                  </a:txBody>
                  <a:tcPr marL="76200" marR="76200" marT="76200" marB="7620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381566403"/>
                  </a:ext>
                </a:extLst>
              </a:tr>
              <a:tr h="569726">
                <a:tc>
                  <a:txBody>
                    <a:bodyPr/>
                    <a:lstStyle/>
                    <a:p>
                      <a:pPr fontAlgn="base" latinLnBrk="0">
                        <a:buNone/>
                      </a:pPr>
                      <a:r>
                        <a:rPr lang="en-US" b="0">
                          <a:effectLst/>
                        </a:rPr>
                        <a:t>12/2016</a:t>
                      </a:r>
                      <a:endParaRPr lang="en-US">
                        <a:effectLst/>
                      </a:endParaRP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a:effectLst/>
                        </a:rPr>
                        <a:t>NIST calls for new algorithms</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a:effectLst/>
                        </a:rPr>
                        <a:t>Experts worldwide submit PQC ideas</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398428801"/>
                  </a:ext>
                </a:extLst>
              </a:tr>
              <a:tr h="569726">
                <a:tc>
                  <a:txBody>
                    <a:bodyPr/>
                    <a:lstStyle/>
                    <a:p>
                      <a:pPr fontAlgn="base" latinLnBrk="0">
                        <a:buNone/>
                      </a:pPr>
                      <a:r>
                        <a:rPr lang="en-US" b="0" dirty="0">
                          <a:effectLst/>
                        </a:rPr>
                        <a:t>2022</a:t>
                      </a:r>
                      <a:endParaRPr lang="en-US" dirty="0">
                        <a:effectLst/>
                      </a:endParaRP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a:effectLst/>
                        </a:rPr>
                        <a:t>NIST picks finalists (Kyber, Dilithium, SPHINCS)</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a:effectLst/>
                        </a:rPr>
                        <a:t>These are the "winners" that can't be cracked</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1284946622"/>
                  </a:ext>
                </a:extLst>
              </a:tr>
              <a:tr h="569726">
                <a:tc>
                  <a:txBody>
                    <a:bodyPr/>
                    <a:lstStyle/>
                    <a:p>
                      <a:pPr fontAlgn="base" latinLnBrk="0">
                        <a:buNone/>
                      </a:pPr>
                      <a:r>
                        <a:rPr lang="en-US" b="0" dirty="0">
                          <a:effectLst/>
                        </a:rPr>
                        <a:t>Late 2024</a:t>
                      </a:r>
                      <a:endParaRPr lang="en-US" dirty="0">
                        <a:effectLst/>
                      </a:endParaRP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dirty="0">
                          <a:effectLst/>
                        </a:rPr>
                        <a:t>Standards published officially</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tc>
                  <a:txBody>
                    <a:bodyPr/>
                    <a:lstStyle/>
                    <a:p>
                      <a:pPr fontAlgn="base" latinLnBrk="0">
                        <a:buNone/>
                      </a:pPr>
                      <a:r>
                        <a:rPr lang="en-US" dirty="0">
                          <a:effectLst/>
                        </a:rPr>
                        <a:t>Government &amp; industry can now use them</a:t>
                      </a:r>
                    </a:p>
                  </a:txBody>
                  <a:tcPr marL="76200" marR="76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tcPr>
                </a:tc>
                <a:extLst>
                  <a:ext uri="{0D108BD9-81ED-4DB2-BD59-A6C34878D82A}">
                    <a16:rowId xmlns:a16="http://schemas.microsoft.com/office/drawing/2014/main" val="2468678159"/>
                  </a:ext>
                </a:extLst>
              </a:tr>
            </a:tbl>
          </a:graphicData>
        </a:graphic>
      </p:graphicFrame>
    </p:spTree>
    <p:extLst>
      <p:ext uri="{BB962C8B-B14F-4D97-AF65-F5344CB8AC3E}">
        <p14:creationId xmlns:p14="http://schemas.microsoft.com/office/powerpoint/2010/main" val="698326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1DAB-4A9A-3B09-D324-811C5DCD7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1ACDB3-0269-215E-7D0E-7D60A465D841}"/>
              </a:ext>
            </a:extLst>
          </p:cNvPr>
          <p:cNvSpPr>
            <a:spLocks noGrp="1"/>
          </p:cNvSpPr>
          <p:nvPr>
            <p:ph type="title"/>
          </p:nvPr>
        </p:nvSpPr>
        <p:spPr>
          <a:xfrm>
            <a:off x="82433" y="96463"/>
            <a:ext cx="9416130" cy="1319742"/>
          </a:xfrm>
        </p:spPr>
        <p:txBody>
          <a:bodyPr>
            <a:noAutofit/>
          </a:bodyPr>
          <a:lstStyle/>
          <a:p>
            <a:pPr>
              <a:lnSpc>
                <a:spcPct val="90000"/>
              </a:lnSpc>
            </a:pPr>
            <a:r>
              <a:rPr lang="en-US" b="1" dirty="0"/>
              <a:t>US Govt Readiness timeline (Ahmed et al. (2025))- Timeline breakdown (2016-2030)</a:t>
            </a:r>
            <a:br>
              <a:rPr lang="en-US" b="1" dirty="0"/>
            </a:br>
            <a:r>
              <a:rPr lang="en-US" sz="1800" b="1" dirty="0"/>
              <a:t>PHASE 2: Government Transition Plan (2022–2030)</a:t>
            </a:r>
            <a:br>
              <a:rPr lang="en-US" sz="1800" b="1" dirty="0"/>
            </a:br>
            <a:br>
              <a:rPr lang="en-US" dirty="0"/>
            </a:br>
            <a:br>
              <a:rPr lang="en-US" dirty="0"/>
            </a:br>
            <a:endParaRPr lang="en-US" b="1" dirty="0">
              <a:latin typeface="Aptos" panose="020B0004020202020204" pitchFamily="34" charset="0"/>
              <a:ea typeface="+mj-lt"/>
              <a:cs typeface="+mj-lt"/>
            </a:endParaRPr>
          </a:p>
        </p:txBody>
      </p:sp>
      <p:graphicFrame>
        <p:nvGraphicFramePr>
          <p:cNvPr id="3" name="Table 2">
            <a:extLst>
              <a:ext uri="{FF2B5EF4-FFF2-40B4-BE49-F238E27FC236}">
                <a16:creationId xmlns:a16="http://schemas.microsoft.com/office/drawing/2014/main" id="{2C9AE256-CB99-756D-923F-0835C1E492EC}"/>
              </a:ext>
            </a:extLst>
          </p:cNvPr>
          <p:cNvGraphicFramePr>
            <a:graphicFrameLocks noGrp="1"/>
          </p:cNvGraphicFramePr>
          <p:nvPr>
            <p:extLst>
              <p:ext uri="{D42A27DB-BD31-4B8C-83A1-F6EECF244321}">
                <p14:modId xmlns:p14="http://schemas.microsoft.com/office/powerpoint/2010/main" val="1761770115"/>
              </p:ext>
            </p:extLst>
          </p:nvPr>
        </p:nvGraphicFramePr>
        <p:xfrm>
          <a:off x="525718" y="1683834"/>
          <a:ext cx="8844096" cy="4833216"/>
        </p:xfrm>
        <a:graphic>
          <a:graphicData uri="http://schemas.openxmlformats.org/drawingml/2006/table">
            <a:tbl>
              <a:tblPr/>
              <a:tblGrid>
                <a:gridCol w="2211024">
                  <a:extLst>
                    <a:ext uri="{9D8B030D-6E8A-4147-A177-3AD203B41FA5}">
                      <a16:colId xmlns:a16="http://schemas.microsoft.com/office/drawing/2014/main" val="3330347601"/>
                    </a:ext>
                  </a:extLst>
                </a:gridCol>
                <a:gridCol w="2211024">
                  <a:extLst>
                    <a:ext uri="{9D8B030D-6E8A-4147-A177-3AD203B41FA5}">
                      <a16:colId xmlns:a16="http://schemas.microsoft.com/office/drawing/2014/main" val="1734505761"/>
                    </a:ext>
                  </a:extLst>
                </a:gridCol>
                <a:gridCol w="2211024">
                  <a:extLst>
                    <a:ext uri="{9D8B030D-6E8A-4147-A177-3AD203B41FA5}">
                      <a16:colId xmlns:a16="http://schemas.microsoft.com/office/drawing/2014/main" val="936477007"/>
                    </a:ext>
                  </a:extLst>
                </a:gridCol>
                <a:gridCol w="2211024">
                  <a:extLst>
                    <a:ext uri="{9D8B030D-6E8A-4147-A177-3AD203B41FA5}">
                      <a16:colId xmlns:a16="http://schemas.microsoft.com/office/drawing/2014/main" val="793248220"/>
                    </a:ext>
                  </a:extLst>
                </a:gridCol>
              </a:tblGrid>
              <a:tr h="220872">
                <a:tc>
                  <a:txBody>
                    <a:bodyPr/>
                    <a:lstStyle/>
                    <a:p>
                      <a:pPr algn="l" fontAlgn="t" latinLnBrk="0">
                        <a:buNone/>
                      </a:pPr>
                      <a:r>
                        <a:rPr lang="en-US" sz="1100" b="1" dirty="0">
                          <a:effectLst/>
                        </a:rPr>
                        <a:t>Agency</a:t>
                      </a:r>
                    </a:p>
                  </a:txBody>
                  <a:tcPr marL="20515" marR="20515" marT="20515" marB="205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t" latinLnBrk="0">
                        <a:buNone/>
                      </a:pPr>
                      <a:r>
                        <a:rPr lang="en-US" sz="1100" b="1">
                          <a:effectLst/>
                        </a:rPr>
                        <a:t>Role (simple)</a:t>
                      </a:r>
                    </a:p>
                  </a:txBody>
                  <a:tcPr marL="20515" marR="20515" marT="20515" marB="205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t" latinLnBrk="0">
                        <a:buNone/>
                      </a:pPr>
                      <a:r>
                        <a:rPr lang="en-US" sz="1100" b="1">
                          <a:effectLst/>
                        </a:rPr>
                        <a:t>Date / Deadline</a:t>
                      </a:r>
                    </a:p>
                  </a:txBody>
                  <a:tcPr marL="20515" marR="20515" marT="20515" marB="205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fontAlgn="t" latinLnBrk="0">
                        <a:buNone/>
                      </a:pPr>
                      <a:r>
                        <a:rPr lang="en-US" sz="1100" b="1" dirty="0">
                          <a:effectLst/>
                        </a:rPr>
                        <a:t>Action</a:t>
                      </a:r>
                    </a:p>
                  </a:txBody>
                  <a:tcPr marL="20515" marR="20515" marT="20515" marB="20515">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7647384"/>
                  </a:ext>
                </a:extLst>
              </a:tr>
              <a:tr h="482282">
                <a:tc>
                  <a:txBody>
                    <a:bodyPr/>
                    <a:lstStyle/>
                    <a:p>
                      <a:pPr fontAlgn="base" latinLnBrk="0">
                        <a:buNone/>
                      </a:pPr>
                      <a:r>
                        <a:rPr lang="en-US" sz="1100">
                          <a:effectLst/>
                        </a:rPr>
                        <a:t>NSA</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Secures national security systems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May 2022</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Says all systems must switch to PQC (post‑quantum crypto).</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9851337"/>
                  </a:ext>
                </a:extLst>
              </a:tr>
              <a:tr h="844690">
                <a:tc>
                  <a:txBody>
                    <a:bodyPr/>
                    <a:lstStyle/>
                    <a:p>
                      <a:pPr fontAlgn="base" latinLnBrk="0">
                        <a:buNone/>
                      </a:pPr>
                      <a:r>
                        <a:rPr lang="en-US" sz="1100">
                          <a:effectLst/>
                        </a:rPr>
                        <a:t>NSA</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dirty="0">
                          <a:effectLst/>
                        </a:rPr>
                        <a:t>Secures national security systems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By 2033</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Web, cloud, operating systems, devices, and networking equipment must use new PQC encryption.</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1374565"/>
                  </a:ext>
                </a:extLst>
              </a:tr>
              <a:tr h="391680">
                <a:tc>
                  <a:txBody>
                    <a:bodyPr/>
                    <a:lstStyle/>
                    <a:p>
                      <a:pPr fontAlgn="base" latinLnBrk="0">
                        <a:buNone/>
                      </a:pPr>
                      <a:r>
                        <a:rPr lang="en-US" sz="1100">
                          <a:effectLst/>
                        </a:rPr>
                        <a:t>OMB</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Oversees all federal agencies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Oct 2022</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Creates an inventory of all encryption systems in use.</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8906772"/>
                  </a:ext>
                </a:extLst>
              </a:tr>
              <a:tr h="572884">
                <a:tc>
                  <a:txBody>
                    <a:bodyPr/>
                    <a:lstStyle/>
                    <a:p>
                      <a:pPr fontAlgn="base" latinLnBrk="0">
                        <a:buNone/>
                      </a:pPr>
                      <a:r>
                        <a:rPr lang="en-US" sz="1100">
                          <a:effectLst/>
                        </a:rPr>
                        <a:t>OMB</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Oversees all federal agencies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Nov 2022</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Publishes guidance on how agencies should transition to PQC.</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0099087"/>
                  </a:ext>
                </a:extLst>
              </a:tr>
              <a:tr h="482282">
                <a:tc>
                  <a:txBody>
                    <a:bodyPr/>
                    <a:lstStyle/>
                    <a:p>
                      <a:pPr fontAlgn="base" latinLnBrk="0">
                        <a:buNone/>
                      </a:pPr>
                      <a:r>
                        <a:rPr lang="en-US" sz="1100">
                          <a:effectLst/>
                        </a:rPr>
                        <a:t>OMB</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Oversees all federal agencies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1 year after NIST standards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Requires every agency to have a formal PQC transition plan.</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5052136"/>
                  </a:ext>
                </a:extLst>
              </a:tr>
              <a:tr h="482282">
                <a:tc>
                  <a:txBody>
                    <a:bodyPr/>
                    <a:lstStyle/>
                    <a:p>
                      <a:pPr fontAlgn="base" latinLnBrk="0">
                        <a:buNone/>
                      </a:pPr>
                      <a:r>
                        <a:rPr lang="en-US" sz="1100">
                          <a:effectLst/>
                        </a:rPr>
                        <a:t>CISA</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Protects critical infrastructure</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By 2024</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Releases tools and support to help agencies migrate to PQC.</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4888659"/>
                  </a:ext>
                </a:extLst>
              </a:tr>
              <a:tr h="391680">
                <a:tc>
                  <a:txBody>
                    <a:bodyPr/>
                    <a:lstStyle/>
                    <a:p>
                      <a:pPr fontAlgn="base" latinLnBrk="0">
                        <a:buNone/>
                      </a:pPr>
                      <a:r>
                        <a:rPr lang="en-US" sz="1100">
                          <a:effectLst/>
                        </a:rPr>
                        <a:t>CISA</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Protects critical infrastructure</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By 2030</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All critical systems are required to be using PQC.</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772200"/>
                  </a:ext>
                </a:extLst>
              </a:tr>
              <a:tr h="482282">
                <a:tc>
                  <a:txBody>
                    <a:bodyPr/>
                    <a:lstStyle/>
                    <a:p>
                      <a:pPr fontAlgn="base" latinLnBrk="0">
                        <a:buNone/>
                      </a:pPr>
                      <a:r>
                        <a:rPr lang="en-US" sz="1100">
                          <a:effectLst/>
                        </a:rPr>
                        <a:t>NCD</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Coordinates across agencies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Oct 2023</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Reports to leadership on each agency’s PQC transition status.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1949408"/>
                  </a:ext>
                </a:extLst>
              </a:tr>
              <a:tr h="482282">
                <a:tc>
                  <a:txBody>
                    <a:bodyPr/>
                    <a:lstStyle/>
                    <a:p>
                      <a:pPr fontAlgn="base" latinLnBrk="0">
                        <a:buNone/>
                      </a:pPr>
                      <a:r>
                        <a:rPr lang="en-US" sz="1100">
                          <a:effectLst/>
                        </a:rPr>
                        <a:t>NCD</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Coordinates across agencies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a:effectLst/>
                        </a:rPr>
                        <a:t>Ongoing</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fontAlgn="base" latinLnBrk="0">
                        <a:buNone/>
                      </a:pPr>
                      <a:r>
                        <a:rPr lang="en-US" sz="1100" dirty="0">
                          <a:effectLst/>
                        </a:rPr>
                        <a:t>Secures and manages funding for PQC transition projects.</a:t>
                      </a:r>
                    </a:p>
                  </a:txBody>
                  <a:tcPr marL="20515" marR="20515" marT="12309" marB="12309"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6036641"/>
                  </a:ext>
                </a:extLst>
              </a:tr>
            </a:tbl>
          </a:graphicData>
        </a:graphic>
      </p:graphicFrame>
    </p:spTree>
    <p:extLst>
      <p:ext uri="{BB962C8B-B14F-4D97-AF65-F5344CB8AC3E}">
        <p14:creationId xmlns:p14="http://schemas.microsoft.com/office/powerpoint/2010/main" val="1408444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E91B8-E142-650F-ADED-6B35A866EF90}"/>
              </a:ext>
            </a:extLst>
          </p:cNvPr>
          <p:cNvSpPr>
            <a:spLocks noGrp="1"/>
          </p:cNvSpPr>
          <p:nvPr>
            <p:ph type="title"/>
          </p:nvPr>
        </p:nvSpPr>
        <p:spPr>
          <a:xfrm>
            <a:off x="108622" y="156238"/>
            <a:ext cx="9165380" cy="1320800"/>
          </a:xfrm>
        </p:spPr>
        <p:txBody>
          <a:bodyPr>
            <a:normAutofit/>
          </a:bodyPr>
          <a:lstStyle/>
          <a:p>
            <a:r>
              <a:rPr lang="en-US" b="1" dirty="0">
                <a:latin typeface="Abadi" panose="020B0604020104020204" pitchFamily="34" charset="0"/>
              </a:rPr>
              <a:t>Why This Matters To My Research (PQC capstone project)</a:t>
            </a:r>
            <a:endParaRPr lang="en-US" dirty="0"/>
          </a:p>
        </p:txBody>
      </p:sp>
      <p:sp>
        <p:nvSpPr>
          <p:cNvPr id="4" name="Content Placeholder 3">
            <a:extLst>
              <a:ext uri="{FF2B5EF4-FFF2-40B4-BE49-F238E27FC236}">
                <a16:creationId xmlns:a16="http://schemas.microsoft.com/office/drawing/2014/main" id="{98BB5C95-5174-E0BC-CDCB-DFD02814587A}"/>
              </a:ext>
            </a:extLst>
          </p:cNvPr>
          <p:cNvSpPr>
            <a:spLocks noGrp="1"/>
          </p:cNvSpPr>
          <p:nvPr>
            <p:ph idx="1"/>
          </p:nvPr>
        </p:nvSpPr>
        <p:spPr>
          <a:xfrm>
            <a:off x="401444" y="1477038"/>
            <a:ext cx="9809261" cy="5091030"/>
          </a:xfrm>
        </p:spPr>
        <p:txBody>
          <a:bodyPr>
            <a:normAutofit fontScale="92500"/>
          </a:bodyPr>
          <a:lstStyle/>
          <a:p>
            <a:pPr marL="0" indent="0">
              <a:buNone/>
            </a:pPr>
            <a:r>
              <a:rPr lang="en-US" dirty="0"/>
              <a:t>My capstone project is to study:</a:t>
            </a:r>
          </a:p>
          <a:p>
            <a:r>
              <a:rPr lang="en-US" dirty="0"/>
              <a:t>Performance – Do Kyber, </a:t>
            </a:r>
            <a:r>
              <a:rPr lang="en-US" dirty="0" err="1"/>
              <a:t>Dilithium</a:t>
            </a:r>
            <a:r>
              <a:rPr lang="en-US" dirty="0"/>
              <a:t>, SPHINCS actually work fast enough?</a:t>
            </a:r>
          </a:p>
          <a:p>
            <a:r>
              <a:rPr lang="en-US" dirty="0"/>
              <a:t>Security – Can side-channel attacks break them?</a:t>
            </a:r>
          </a:p>
          <a:p>
            <a:r>
              <a:rPr lang="en-US" dirty="0"/>
              <a:t>Governance – How do organizations plan and manage the transition?</a:t>
            </a:r>
          </a:p>
          <a:p>
            <a:pPr marL="0" indent="0">
              <a:buNone/>
            </a:pPr>
            <a:endParaRPr lang="en-US" dirty="0"/>
          </a:p>
          <a:p>
            <a:pPr marL="0" indent="0">
              <a:buNone/>
            </a:pPr>
            <a:r>
              <a:rPr lang="en-US" dirty="0"/>
              <a:t>This Govt timeline shows the real pressure organizations face. They have until 2030 to switch, but:</a:t>
            </a:r>
          </a:p>
          <a:p>
            <a:r>
              <a:rPr lang="en-US" dirty="0"/>
              <a:t>Many don't know how (your research helps)</a:t>
            </a:r>
          </a:p>
          <a:p>
            <a:r>
              <a:rPr lang="en-US" dirty="0"/>
              <a:t>Different agencies have different deadlines (confusing)</a:t>
            </a:r>
          </a:p>
          <a:p>
            <a:r>
              <a:rPr lang="en-US" dirty="0"/>
              <a:t>These algorithms are new and not fully tested in production (your evidence table addresses this)</a:t>
            </a:r>
            <a:br>
              <a:rPr lang="en-US" dirty="0"/>
            </a:br>
            <a:endParaRPr lang="en-US" dirty="0"/>
          </a:p>
          <a:p>
            <a:pPr marL="0" indent="0">
              <a:buNone/>
            </a:pPr>
            <a:r>
              <a:rPr lang="en-US" dirty="0"/>
              <a:t>By 2030, all government and critical infrastructure systems must use post-quantum cryptography. My research validates that these three NIST-approved algorithms can actually handle this massive transition without breaking performance, security, or compliance requirements.</a:t>
            </a:r>
          </a:p>
          <a:p>
            <a:pPr marL="0" indent="0">
              <a:buNone/>
            </a:pPr>
            <a:endParaRPr lang="en-US" b="1" dirty="0">
              <a:latin typeface="Aptos" panose="020B0004020202020204" pitchFamily="34" charset="0"/>
            </a:endParaRPr>
          </a:p>
        </p:txBody>
      </p:sp>
    </p:spTree>
    <p:extLst>
      <p:ext uri="{BB962C8B-B14F-4D97-AF65-F5344CB8AC3E}">
        <p14:creationId xmlns:p14="http://schemas.microsoft.com/office/powerpoint/2010/main" val="13300238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0975A-13BC-BAA1-C5CC-E095843D6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CF915-604D-789E-34D6-B7ACC1F829D5}"/>
              </a:ext>
            </a:extLst>
          </p:cNvPr>
          <p:cNvSpPr>
            <a:spLocks noGrp="1"/>
          </p:cNvSpPr>
          <p:nvPr>
            <p:ph type="title"/>
          </p:nvPr>
        </p:nvSpPr>
        <p:spPr>
          <a:xfrm>
            <a:off x="380634" y="131492"/>
            <a:ext cx="9377728" cy="734351"/>
          </a:xfrm>
        </p:spPr>
        <p:txBody>
          <a:bodyPr>
            <a:noAutofit/>
          </a:bodyPr>
          <a:lstStyle/>
          <a:p>
            <a:pPr>
              <a:lnSpc>
                <a:spcPct val="90000"/>
              </a:lnSpc>
            </a:pPr>
            <a:r>
              <a:rPr lang="en-US" b="1" dirty="0"/>
              <a:t>Evidence Table: Performance &amp; Mitigation Baseline</a:t>
            </a:r>
            <a:br>
              <a:rPr lang="en-US" b="1" dirty="0"/>
            </a:br>
            <a:endParaRPr lang="en-US" b="1" dirty="0">
              <a:latin typeface="Aptos" panose="020B0004020202020204" pitchFamily="34" charset="0"/>
              <a:ea typeface="+mj-lt"/>
              <a:cs typeface="+mj-lt"/>
            </a:endParaRPr>
          </a:p>
        </p:txBody>
      </p:sp>
      <p:graphicFrame>
        <p:nvGraphicFramePr>
          <p:cNvPr id="4" name="Content Placeholder 3">
            <a:extLst>
              <a:ext uri="{FF2B5EF4-FFF2-40B4-BE49-F238E27FC236}">
                <a16:creationId xmlns:a16="http://schemas.microsoft.com/office/drawing/2014/main" id="{B97D21E0-49BD-F07F-A0BF-C9697621E34F}"/>
              </a:ext>
            </a:extLst>
          </p:cNvPr>
          <p:cNvGraphicFramePr>
            <a:graphicFrameLocks noGrp="1"/>
          </p:cNvGraphicFramePr>
          <p:nvPr>
            <p:ph idx="1"/>
            <p:extLst>
              <p:ext uri="{D42A27DB-BD31-4B8C-83A1-F6EECF244321}">
                <p14:modId xmlns:p14="http://schemas.microsoft.com/office/powerpoint/2010/main" val="1206651534"/>
              </p:ext>
            </p:extLst>
          </p:nvPr>
        </p:nvGraphicFramePr>
        <p:xfrm>
          <a:off x="600550" y="1426686"/>
          <a:ext cx="9290583" cy="2922210"/>
        </p:xfrm>
        <a:graphic>
          <a:graphicData uri="http://schemas.openxmlformats.org/drawingml/2006/table">
            <a:tbl>
              <a:tblPr/>
              <a:tblGrid>
                <a:gridCol w="2365674">
                  <a:extLst>
                    <a:ext uri="{9D8B030D-6E8A-4147-A177-3AD203B41FA5}">
                      <a16:colId xmlns:a16="http://schemas.microsoft.com/office/drawing/2014/main" val="439980552"/>
                    </a:ext>
                  </a:extLst>
                </a:gridCol>
                <a:gridCol w="3828048">
                  <a:extLst>
                    <a:ext uri="{9D8B030D-6E8A-4147-A177-3AD203B41FA5}">
                      <a16:colId xmlns:a16="http://schemas.microsoft.com/office/drawing/2014/main" val="2247301680"/>
                    </a:ext>
                  </a:extLst>
                </a:gridCol>
                <a:gridCol w="3096861">
                  <a:extLst>
                    <a:ext uri="{9D8B030D-6E8A-4147-A177-3AD203B41FA5}">
                      <a16:colId xmlns:a16="http://schemas.microsoft.com/office/drawing/2014/main" val="3077410609"/>
                    </a:ext>
                  </a:extLst>
                </a:gridCol>
              </a:tblGrid>
              <a:tr h="375691">
                <a:tc>
                  <a:txBody>
                    <a:bodyPr/>
                    <a:lstStyle/>
                    <a:p>
                      <a:pPr algn="l">
                        <a:buNone/>
                      </a:pPr>
                      <a:r>
                        <a:rPr lang="en-US" dirty="0">
                          <a:solidFill>
                            <a:schemeClr val="accent2">
                              <a:lumMod val="50000"/>
                            </a:schemeClr>
                          </a:solidFill>
                          <a:effectLst/>
                        </a:rPr>
                        <a:t>Study</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a:solidFill>
                            <a:schemeClr val="accent2">
                              <a:lumMod val="50000"/>
                            </a:schemeClr>
                          </a:solidFill>
                          <a:effectLst/>
                        </a:rPr>
                        <a:t>Finding</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dirty="0">
                          <a:solidFill>
                            <a:schemeClr val="accent2">
                              <a:lumMod val="50000"/>
                            </a:schemeClr>
                          </a:solidFill>
                          <a:effectLst/>
                        </a:rPr>
                        <a:t>Domain</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23481608"/>
                  </a:ext>
                </a:extLst>
              </a:tr>
              <a:tr h="819130">
                <a:tc>
                  <a:txBody>
                    <a:bodyPr/>
                    <a:lstStyle/>
                    <a:p>
                      <a:pPr algn="l">
                        <a:buNone/>
                      </a:pPr>
                      <a:r>
                        <a:rPr lang="en-US" dirty="0">
                          <a:effectLst/>
                        </a:rPr>
                        <a:t>Ahmed et al. (2025) </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dirty="0">
                          <a:effectLst/>
                        </a:rPr>
                        <a:t>Kyber, </a:t>
                      </a:r>
                      <a:r>
                        <a:rPr lang="en-US" dirty="0" err="1">
                          <a:effectLst/>
                        </a:rPr>
                        <a:t>Dilithium</a:t>
                      </a:r>
                      <a:r>
                        <a:rPr lang="en-US" dirty="0">
                          <a:effectLst/>
                        </a:rPr>
                        <a:t> low-latency; SPHINCS for archival</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a:effectLst/>
                        </a:rPr>
                        <a:t>Finance, Healthcare</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884488806"/>
                  </a:ext>
                </a:extLst>
              </a:tr>
              <a:tr h="819130">
                <a:tc>
                  <a:txBody>
                    <a:bodyPr/>
                    <a:lstStyle/>
                    <a:p>
                      <a:pPr algn="l">
                        <a:buNone/>
                      </a:pPr>
                      <a:r>
                        <a:rPr lang="en-US" dirty="0">
                          <a:effectLst/>
                        </a:rPr>
                        <a:t>Boyens (2023)</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dirty="0">
                          <a:effectLst/>
                        </a:rPr>
                        <a:t>Masking, constant-time reduce side-channel leakage</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a:effectLst/>
                        </a:rPr>
                        <a:t>Finance, Healthcare pilots</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849853297"/>
                  </a:ext>
                </a:extLst>
              </a:tr>
              <a:tr h="819130">
                <a:tc>
                  <a:txBody>
                    <a:bodyPr/>
                    <a:lstStyle/>
                    <a:p>
                      <a:pPr algn="l">
                        <a:buNone/>
                      </a:pPr>
                      <a:r>
                        <a:rPr lang="en-US">
                          <a:effectLst/>
                        </a:rPr>
                        <a:t>NIST (2024)</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a:effectLst/>
                        </a:rPr>
                        <a:t>Phased rollout, parallel stacks, rollback recommended</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l">
                        <a:buNone/>
                      </a:pPr>
                      <a:r>
                        <a:rPr lang="en-US" dirty="0">
                          <a:effectLst/>
                        </a:rPr>
                        <a:t>Governance, Risk management</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799560564"/>
                  </a:ext>
                </a:extLst>
              </a:tr>
            </a:tbl>
          </a:graphicData>
        </a:graphic>
      </p:graphicFrame>
      <p:sp>
        <p:nvSpPr>
          <p:cNvPr id="6" name="TextBox 5">
            <a:extLst>
              <a:ext uri="{FF2B5EF4-FFF2-40B4-BE49-F238E27FC236}">
                <a16:creationId xmlns:a16="http://schemas.microsoft.com/office/drawing/2014/main" id="{A25D0C77-BC45-9C65-07BB-413A9F3A2493}"/>
              </a:ext>
            </a:extLst>
          </p:cNvPr>
          <p:cNvSpPr txBox="1"/>
          <p:nvPr/>
        </p:nvSpPr>
        <p:spPr>
          <a:xfrm>
            <a:off x="465563" y="4909739"/>
            <a:ext cx="9927374" cy="923330"/>
          </a:xfrm>
          <a:prstGeom prst="rect">
            <a:avLst/>
          </a:prstGeom>
          <a:noFill/>
        </p:spPr>
        <p:txBody>
          <a:bodyPr wrap="square">
            <a:spAutoFit/>
          </a:bodyPr>
          <a:lstStyle/>
          <a:p>
            <a:r>
              <a:rPr lang="en-US" b="1" i="0" dirty="0">
                <a:solidFill>
                  <a:srgbClr val="333333"/>
                </a:solidFill>
                <a:effectLst/>
                <a:latin typeface="Segoe UI" panose="020B0502040204020203" pitchFamily="34" charset="0"/>
              </a:rPr>
              <a:t>Impact:</a:t>
            </a:r>
            <a:r>
              <a:rPr lang="en-US" b="0" i="0" dirty="0">
                <a:solidFill>
                  <a:srgbClr val="333333"/>
                </a:solidFill>
                <a:effectLst/>
                <a:latin typeface="Segoe UI" panose="020B0502040204020203" pitchFamily="34" charset="0"/>
              </a:rPr>
              <a:t> Evidence directly supports RQ-D1 (performance) and RQ-C2 (side-channel mitigation) methodologies; governance findings inform CSF 2.0 alignment and organizational transition strategy.</a:t>
            </a:r>
            <a:endParaRPr lang="en-US" dirty="0"/>
          </a:p>
        </p:txBody>
      </p:sp>
    </p:spTree>
    <p:extLst>
      <p:ext uri="{BB962C8B-B14F-4D97-AF65-F5344CB8AC3E}">
        <p14:creationId xmlns:p14="http://schemas.microsoft.com/office/powerpoint/2010/main" val="37482645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D0485-C237-C466-C22F-4DAC997DA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CF54C-E56B-3048-57D2-395BE1F4351B}"/>
              </a:ext>
            </a:extLst>
          </p:cNvPr>
          <p:cNvSpPr>
            <a:spLocks noGrp="1"/>
          </p:cNvSpPr>
          <p:nvPr>
            <p:ph type="title"/>
          </p:nvPr>
        </p:nvSpPr>
        <p:spPr>
          <a:xfrm>
            <a:off x="380634" y="131492"/>
            <a:ext cx="9377728" cy="734351"/>
          </a:xfrm>
        </p:spPr>
        <p:txBody>
          <a:bodyPr>
            <a:noAutofit/>
          </a:bodyPr>
          <a:lstStyle/>
          <a:p>
            <a:pPr>
              <a:lnSpc>
                <a:spcPct val="90000"/>
              </a:lnSpc>
            </a:pPr>
            <a:r>
              <a:rPr lang="en-US" b="1" dirty="0"/>
              <a:t>Method: Mixed Methods analysis pipeline</a:t>
            </a:r>
            <a:br>
              <a:rPr lang="en-US" b="1" dirty="0"/>
            </a:br>
            <a:endParaRPr lang="en-US" b="1" dirty="0">
              <a:latin typeface="Aptos" panose="020B0004020202020204" pitchFamily="34" charset="0"/>
              <a:ea typeface="+mj-lt"/>
              <a:cs typeface="+mj-lt"/>
            </a:endParaRPr>
          </a:p>
        </p:txBody>
      </p:sp>
      <p:sp>
        <p:nvSpPr>
          <p:cNvPr id="6" name="TextBox 5">
            <a:extLst>
              <a:ext uri="{FF2B5EF4-FFF2-40B4-BE49-F238E27FC236}">
                <a16:creationId xmlns:a16="http://schemas.microsoft.com/office/drawing/2014/main" id="{DCFFE4CA-37DB-8B77-69C9-BC17CCD7D728}"/>
              </a:ext>
            </a:extLst>
          </p:cNvPr>
          <p:cNvSpPr txBox="1"/>
          <p:nvPr/>
        </p:nvSpPr>
        <p:spPr>
          <a:xfrm>
            <a:off x="380634" y="2824461"/>
            <a:ext cx="9927374" cy="2585323"/>
          </a:xfrm>
          <a:prstGeom prst="rect">
            <a:avLst/>
          </a:prstGeom>
          <a:noFill/>
        </p:spPr>
        <p:txBody>
          <a:bodyPr wrap="square">
            <a:spAutoFit/>
          </a:bodyPr>
          <a:lstStyle/>
          <a:p>
            <a:r>
              <a:rPr lang="en-US" b="1" dirty="0"/>
              <a:t>KEY MEASURES (SMART METRICS):</a:t>
            </a:r>
            <a:br>
              <a:rPr lang="en-US" b="1" dirty="0"/>
            </a:br>
            <a:r>
              <a:rPr lang="en-US" b="1" dirty="0"/>
              <a:t>1. SOURCE COVERAGE RATIO   Formula: (unique PQC sources in artifacts) / (total sources cited)   Goal: ≥80% industry + peer-reviewed coverage   Mitigates: Bias risk (800-171r3 03.02.01)</a:t>
            </a:r>
            <a:br>
              <a:rPr lang="en-US" b="1" dirty="0"/>
            </a:br>
            <a:r>
              <a:rPr lang="en-US" b="1" dirty="0"/>
              <a:t>2. SIDE-CHANNEL EFFECTIVENESS   Formula: (attack success rate post-mitigation) / (pre-mitigation)   Goal: &lt;10% residual leakage   Validates: RQ-C2 countermeasure impact</a:t>
            </a:r>
            <a:br>
              <a:rPr lang="en-US" b="1" dirty="0"/>
            </a:br>
            <a:r>
              <a:rPr lang="en-US" b="1" dirty="0"/>
              <a:t>3. GOVERNANCE ADOPTION RATE   Formula: Organizations implementing phased PQC rollout per NIST guidance   Goal: &gt;60% of interview cohort   Measures: RQ-G1 organizational readiness</a:t>
            </a:r>
          </a:p>
        </p:txBody>
      </p:sp>
      <p:sp>
        <p:nvSpPr>
          <p:cNvPr id="7" name="Rectangle 6">
            <a:extLst>
              <a:ext uri="{FF2B5EF4-FFF2-40B4-BE49-F238E27FC236}">
                <a16:creationId xmlns:a16="http://schemas.microsoft.com/office/drawing/2014/main" id="{5BEB60C9-D79B-EEBA-0C76-B7982513614F}"/>
              </a:ext>
            </a:extLst>
          </p:cNvPr>
          <p:cNvSpPr/>
          <p:nvPr/>
        </p:nvSpPr>
        <p:spPr>
          <a:xfrm>
            <a:off x="465564" y="1070515"/>
            <a:ext cx="1841346" cy="132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br>
              <a:rPr lang="en-US" dirty="0"/>
            </a:br>
            <a:r>
              <a:rPr lang="en-US" dirty="0"/>
              <a:t>(Quantitative +</a:t>
            </a:r>
            <a:br>
              <a:rPr lang="en-US" dirty="0"/>
            </a:br>
            <a:r>
              <a:rPr lang="en-US" dirty="0"/>
              <a:t>Qualitative)</a:t>
            </a:r>
          </a:p>
        </p:txBody>
      </p:sp>
      <p:sp>
        <p:nvSpPr>
          <p:cNvPr id="8" name="Rectangle 7">
            <a:extLst>
              <a:ext uri="{FF2B5EF4-FFF2-40B4-BE49-F238E27FC236}">
                <a16:creationId xmlns:a16="http://schemas.microsoft.com/office/drawing/2014/main" id="{32956128-2C91-0D18-32FF-7EDA6E48FBFE}"/>
              </a:ext>
            </a:extLst>
          </p:cNvPr>
          <p:cNvSpPr/>
          <p:nvPr/>
        </p:nvSpPr>
        <p:spPr>
          <a:xfrm>
            <a:off x="2931377" y="1070514"/>
            <a:ext cx="1873405" cy="132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Instruments</a:t>
            </a:r>
            <a:br>
              <a:rPr lang="en-US" dirty="0"/>
            </a:br>
            <a:r>
              <a:rPr lang="en-US" dirty="0"/>
              <a:t>(Extraction,</a:t>
            </a:r>
            <a:br>
              <a:rPr lang="en-US" dirty="0"/>
            </a:br>
            <a:r>
              <a:rPr lang="en-US" dirty="0"/>
              <a:t>Protocol, Rubric)</a:t>
            </a:r>
          </a:p>
        </p:txBody>
      </p:sp>
      <p:sp>
        <p:nvSpPr>
          <p:cNvPr id="9" name="Rectangle 8">
            <a:extLst>
              <a:ext uri="{FF2B5EF4-FFF2-40B4-BE49-F238E27FC236}">
                <a16:creationId xmlns:a16="http://schemas.microsoft.com/office/drawing/2014/main" id="{33E2C6A4-2CB4-6222-0E96-6F20091975E7}"/>
              </a:ext>
            </a:extLst>
          </p:cNvPr>
          <p:cNvSpPr/>
          <p:nvPr/>
        </p:nvSpPr>
        <p:spPr>
          <a:xfrm>
            <a:off x="5429250" y="1070514"/>
            <a:ext cx="1873405" cy="132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Analysis</a:t>
            </a:r>
            <a:br>
              <a:rPr lang="en-US" dirty="0"/>
            </a:br>
            <a:r>
              <a:rPr lang="en-US" dirty="0"/>
              <a:t>(Meta-analysis,</a:t>
            </a:r>
            <a:br>
              <a:rPr lang="en-US" dirty="0"/>
            </a:br>
            <a:r>
              <a:rPr lang="en-US" dirty="0"/>
              <a:t>Coding, Integration)</a:t>
            </a:r>
          </a:p>
        </p:txBody>
      </p:sp>
      <p:sp>
        <p:nvSpPr>
          <p:cNvPr id="10" name="Rectangle 9">
            <a:extLst>
              <a:ext uri="{FF2B5EF4-FFF2-40B4-BE49-F238E27FC236}">
                <a16:creationId xmlns:a16="http://schemas.microsoft.com/office/drawing/2014/main" id="{F6CE27EC-1D05-E1C1-A5F5-C2356312ECA9}"/>
              </a:ext>
            </a:extLst>
          </p:cNvPr>
          <p:cNvSpPr/>
          <p:nvPr/>
        </p:nvSpPr>
        <p:spPr>
          <a:xfrm>
            <a:off x="7895064" y="1070514"/>
            <a:ext cx="1873405" cy="13269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Output</a:t>
            </a:r>
            <a:br>
              <a:rPr lang="en-US" dirty="0"/>
            </a:br>
            <a:r>
              <a:rPr lang="en-US" dirty="0"/>
              <a:t>(Performance,</a:t>
            </a:r>
            <a:br>
              <a:rPr lang="en-US" dirty="0"/>
            </a:br>
            <a:r>
              <a:rPr lang="en-US" dirty="0"/>
              <a:t>Governance)</a:t>
            </a:r>
          </a:p>
        </p:txBody>
      </p:sp>
      <p:cxnSp>
        <p:nvCxnSpPr>
          <p:cNvPr id="12" name="Connector: Elbow 11">
            <a:extLst>
              <a:ext uri="{FF2B5EF4-FFF2-40B4-BE49-F238E27FC236}">
                <a16:creationId xmlns:a16="http://schemas.microsoft.com/office/drawing/2014/main" id="{F5813E3D-0E83-7C51-0310-9E0D235CD268}"/>
              </a:ext>
            </a:extLst>
          </p:cNvPr>
          <p:cNvCxnSpPr>
            <a:stCxn id="7" idx="3"/>
            <a:endCxn id="8" idx="1"/>
          </p:cNvCxnSpPr>
          <p:nvPr/>
        </p:nvCxnSpPr>
        <p:spPr>
          <a:xfrm flipV="1">
            <a:off x="2306910" y="1734012"/>
            <a:ext cx="624467" cy="1"/>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CF009939-95CD-69A7-FFA8-9324B888B42D}"/>
              </a:ext>
            </a:extLst>
          </p:cNvPr>
          <p:cNvCxnSpPr>
            <a:cxnSpLocks/>
            <a:stCxn id="8" idx="3"/>
            <a:endCxn id="9" idx="1"/>
          </p:cNvCxnSpPr>
          <p:nvPr/>
        </p:nvCxnSpPr>
        <p:spPr>
          <a:xfrm>
            <a:off x="4804782" y="1734012"/>
            <a:ext cx="624468" cy="12700"/>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2666DDAF-689F-61F8-B826-FCF793C62A1E}"/>
              </a:ext>
            </a:extLst>
          </p:cNvPr>
          <p:cNvCxnSpPr>
            <a:cxnSpLocks/>
          </p:cNvCxnSpPr>
          <p:nvPr/>
        </p:nvCxnSpPr>
        <p:spPr>
          <a:xfrm>
            <a:off x="7302655" y="1721311"/>
            <a:ext cx="624468" cy="12700"/>
          </a:xfrm>
          <a:prstGeom prst="bentConnector3">
            <a:avLst/>
          </a:prstGeom>
          <a:ln w="349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6743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E3094-070E-4F5E-92D0-92CCDD47C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6D9C8-51CA-302F-4AB2-F736F7285F8E}"/>
              </a:ext>
            </a:extLst>
          </p:cNvPr>
          <p:cNvSpPr>
            <a:spLocks noGrp="1"/>
          </p:cNvSpPr>
          <p:nvPr>
            <p:ph type="title"/>
          </p:nvPr>
        </p:nvSpPr>
        <p:spPr>
          <a:xfrm>
            <a:off x="380634" y="131492"/>
            <a:ext cx="9377728" cy="734351"/>
          </a:xfrm>
        </p:spPr>
        <p:txBody>
          <a:bodyPr>
            <a:noAutofit/>
          </a:bodyPr>
          <a:lstStyle/>
          <a:p>
            <a:pPr>
              <a:lnSpc>
                <a:spcPct val="90000"/>
              </a:lnSpc>
            </a:pPr>
            <a:r>
              <a:rPr lang="en-US" b="1" dirty="0"/>
              <a:t>STANDARDS ANCHORS - CSF 2.0 &amp; ZERO TRUST (ZTA)</a:t>
            </a:r>
            <a:endParaRPr lang="en-US" b="1" dirty="0">
              <a:latin typeface="Aptos" panose="020B0004020202020204" pitchFamily="34" charset="0"/>
              <a:ea typeface="+mj-lt"/>
              <a:cs typeface="+mj-lt"/>
            </a:endParaRPr>
          </a:p>
        </p:txBody>
      </p:sp>
      <p:graphicFrame>
        <p:nvGraphicFramePr>
          <p:cNvPr id="5" name="Table 4">
            <a:extLst>
              <a:ext uri="{FF2B5EF4-FFF2-40B4-BE49-F238E27FC236}">
                <a16:creationId xmlns:a16="http://schemas.microsoft.com/office/drawing/2014/main" id="{95B9E241-0A99-4989-0C57-B271B208DDA9}"/>
              </a:ext>
            </a:extLst>
          </p:cNvPr>
          <p:cNvGraphicFramePr>
            <a:graphicFrameLocks noGrp="1"/>
          </p:cNvGraphicFramePr>
          <p:nvPr>
            <p:extLst>
              <p:ext uri="{D42A27DB-BD31-4B8C-83A1-F6EECF244321}">
                <p14:modId xmlns:p14="http://schemas.microsoft.com/office/powerpoint/2010/main" val="1076849453"/>
              </p:ext>
            </p:extLst>
          </p:nvPr>
        </p:nvGraphicFramePr>
        <p:xfrm>
          <a:off x="648415" y="1488281"/>
          <a:ext cx="8587026" cy="3881437"/>
        </p:xfrm>
        <a:graphic>
          <a:graphicData uri="http://schemas.openxmlformats.org/drawingml/2006/table">
            <a:tbl>
              <a:tblPr/>
              <a:tblGrid>
                <a:gridCol w="2083634">
                  <a:extLst>
                    <a:ext uri="{9D8B030D-6E8A-4147-A177-3AD203B41FA5}">
                      <a16:colId xmlns:a16="http://schemas.microsoft.com/office/drawing/2014/main" val="1826708923"/>
                    </a:ext>
                  </a:extLst>
                </a:gridCol>
                <a:gridCol w="3641050">
                  <a:extLst>
                    <a:ext uri="{9D8B030D-6E8A-4147-A177-3AD203B41FA5}">
                      <a16:colId xmlns:a16="http://schemas.microsoft.com/office/drawing/2014/main" val="2522674506"/>
                    </a:ext>
                  </a:extLst>
                </a:gridCol>
                <a:gridCol w="2862342">
                  <a:extLst>
                    <a:ext uri="{9D8B030D-6E8A-4147-A177-3AD203B41FA5}">
                      <a16:colId xmlns:a16="http://schemas.microsoft.com/office/drawing/2014/main" val="4168871538"/>
                    </a:ext>
                  </a:extLst>
                </a:gridCol>
              </a:tblGrid>
              <a:tr h="347645">
                <a:tc>
                  <a:txBody>
                    <a:bodyPr/>
                    <a:lstStyle/>
                    <a:p>
                      <a:pPr algn="l">
                        <a:buNone/>
                      </a:pPr>
                      <a:r>
                        <a:rPr lang="en-US" sz="1400" dirty="0">
                          <a:solidFill>
                            <a:srgbClr val="FFFFFF"/>
                          </a:solidFill>
                          <a:effectLst/>
                        </a:rPr>
                        <a:t>Standard</a:t>
                      </a: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52A3"/>
                    </a:solidFill>
                  </a:tcPr>
                </a:tc>
                <a:tc>
                  <a:txBody>
                    <a:bodyPr/>
                    <a:lstStyle/>
                    <a:p>
                      <a:pPr algn="l">
                        <a:buNone/>
                      </a:pPr>
                      <a:r>
                        <a:rPr lang="en-US" sz="1400">
                          <a:solidFill>
                            <a:srgbClr val="FFFFFF"/>
                          </a:solidFill>
                          <a:effectLst/>
                        </a:rPr>
                        <a:t>Outcome/Tenet (Copy-Exact)</a:t>
                      </a:r>
                    </a:p>
                  </a:txBody>
                  <a:tcPr marL="44800" marR="44800" marT="44800" marB="44800" anchor="ctr">
                    <a:lnL w="1905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52A3"/>
                    </a:solidFill>
                  </a:tcPr>
                </a:tc>
                <a:tc>
                  <a:txBody>
                    <a:bodyPr/>
                    <a:lstStyle/>
                    <a:p>
                      <a:pPr algn="l">
                        <a:buNone/>
                      </a:pPr>
                      <a:r>
                        <a:rPr lang="en-US" sz="1400">
                          <a:solidFill>
                            <a:srgbClr val="FFFFFF"/>
                          </a:solidFill>
                          <a:effectLst/>
                        </a:rPr>
                        <a:t>Method Alignment</a:t>
                      </a:r>
                    </a:p>
                  </a:txBody>
                  <a:tcPr marL="44800" marR="44800" marT="44800" marB="448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0052A3"/>
                    </a:solidFill>
                  </a:tcPr>
                </a:tc>
                <a:extLst>
                  <a:ext uri="{0D108BD9-81ED-4DB2-BD59-A6C34878D82A}">
                    <a16:rowId xmlns:a16="http://schemas.microsoft.com/office/drawing/2014/main" val="1487342231"/>
                  </a:ext>
                </a:extLst>
              </a:tr>
              <a:tr h="1766896">
                <a:tc>
                  <a:txBody>
                    <a:bodyPr/>
                    <a:lstStyle/>
                    <a:p>
                      <a:pPr algn="l">
                        <a:buNone/>
                      </a:pPr>
                      <a:r>
                        <a:rPr lang="en-US" sz="1400" b="1">
                          <a:effectLst/>
                        </a:rPr>
                        <a:t>CSF 2.0</a:t>
                      </a:r>
                      <a:br>
                        <a:rPr lang="en-US" sz="1400" b="1">
                          <a:effectLst/>
                        </a:rPr>
                      </a:br>
                      <a:r>
                        <a:rPr lang="en-US" sz="1400" b="1">
                          <a:effectLst/>
                        </a:rPr>
                        <a:t>(PR.PS, p. 25)</a:t>
                      </a:r>
                      <a:endParaRPr lang="en-US" sz="1400">
                        <a:effectLst/>
                      </a:endParaRP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effectLst/>
                        </a:rPr>
                        <a:t>"The hardware, software (e.g., firmware, operating systems, applications, and services) of physical and virtual platforms are managed consistent with the organization's risk strategy to protect their confidentiality, integrity, and availability."</a:t>
                      </a: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effectLst/>
                        </a:rPr>
                        <a:t>PQC implementation security practices benchmarked; performance logs &amp; vulnerability tracking matrices demonstrate continuous secure software monitoring.</a:t>
                      </a: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9594458"/>
                  </a:ext>
                </a:extLst>
              </a:tr>
              <a:tr h="1766896">
                <a:tc>
                  <a:txBody>
                    <a:bodyPr/>
                    <a:lstStyle/>
                    <a:p>
                      <a:pPr algn="l">
                        <a:buNone/>
                      </a:pPr>
                      <a:r>
                        <a:rPr lang="en-US" sz="1400" b="1">
                          <a:effectLst/>
                        </a:rPr>
                        <a:t>SP 800-207</a:t>
                      </a:r>
                      <a:br>
                        <a:rPr lang="en-US" sz="1400" b="1">
                          <a:effectLst/>
                        </a:rPr>
                      </a:br>
                      <a:r>
                        <a:rPr lang="en-US" sz="1400" b="1">
                          <a:effectLst/>
                        </a:rPr>
                        <a:t>(Section 3.3.1, p. 16)</a:t>
                      </a:r>
                      <a:endParaRPr lang="en-US" sz="1400">
                        <a:effectLst/>
                      </a:endParaRP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9F9F9"/>
                    </a:solidFill>
                  </a:tcPr>
                </a:tc>
                <a:tc>
                  <a:txBody>
                    <a:bodyPr/>
                    <a:lstStyle/>
                    <a:p>
                      <a:pPr algn="l">
                        <a:buNone/>
                      </a:pPr>
                      <a:r>
                        <a:rPr lang="en-US" sz="1400">
                          <a:effectLst/>
                        </a:rPr>
                        <a:t>"All resource authentication and authorization are dynamic and strictly enforced before access is allowed… Continual monitoring with possible reauthentication and reauthorization occurs throughout user transactions, as defined and enforced by policy."</a:t>
                      </a: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9F9F9"/>
                    </a:solidFill>
                  </a:tcPr>
                </a:tc>
                <a:tc>
                  <a:txBody>
                    <a:bodyPr/>
                    <a:lstStyle/>
                    <a:p>
                      <a:pPr algn="l">
                        <a:buNone/>
                      </a:pPr>
                      <a:r>
                        <a:rPr lang="en-US" sz="1400" dirty="0">
                          <a:effectLst/>
                        </a:rPr>
                        <a:t>PQC auth middleware implements session-based MFA; audit logging captures every API request with real-time anomaly detection for continuous reauthentication.</a:t>
                      </a:r>
                    </a:p>
                  </a:txBody>
                  <a:tcPr marL="44800" marR="44800" marT="44800" marB="448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027738690"/>
                  </a:ext>
                </a:extLst>
              </a:tr>
            </a:tbl>
          </a:graphicData>
        </a:graphic>
      </p:graphicFrame>
    </p:spTree>
    <p:extLst>
      <p:ext uri="{BB962C8B-B14F-4D97-AF65-F5344CB8AC3E}">
        <p14:creationId xmlns:p14="http://schemas.microsoft.com/office/powerpoint/2010/main" val="18183533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ED545-17D6-A55D-BAE0-B28BEC6A1A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A2B99-5EE4-6BE4-6556-62292BC9ACD1}"/>
              </a:ext>
            </a:extLst>
          </p:cNvPr>
          <p:cNvSpPr>
            <a:spLocks noGrp="1"/>
          </p:cNvSpPr>
          <p:nvPr>
            <p:ph type="title"/>
          </p:nvPr>
        </p:nvSpPr>
        <p:spPr>
          <a:xfrm>
            <a:off x="380634" y="131492"/>
            <a:ext cx="9377728" cy="734351"/>
          </a:xfrm>
        </p:spPr>
        <p:txBody>
          <a:bodyPr>
            <a:noAutofit/>
          </a:bodyPr>
          <a:lstStyle/>
          <a:p>
            <a:pPr>
              <a:lnSpc>
                <a:spcPct val="90000"/>
              </a:lnSpc>
            </a:pPr>
            <a:r>
              <a:rPr lang="en-US" b="1" dirty="0"/>
              <a:t>STANDARDS ANCHORS - CSF 2.0 &amp; ZERO TRUST (ZTA)- Evidence</a:t>
            </a:r>
            <a:endParaRPr lang="en-US" b="1" dirty="0">
              <a:latin typeface="Aptos" panose="020B0004020202020204" pitchFamily="34" charset="0"/>
              <a:ea typeface="+mj-lt"/>
              <a:cs typeface="+mj-lt"/>
            </a:endParaRPr>
          </a:p>
        </p:txBody>
      </p:sp>
      <p:pic>
        <p:nvPicPr>
          <p:cNvPr id="4" name="Picture 3">
            <a:extLst>
              <a:ext uri="{FF2B5EF4-FFF2-40B4-BE49-F238E27FC236}">
                <a16:creationId xmlns:a16="http://schemas.microsoft.com/office/drawing/2014/main" id="{FA3295D3-BCDB-FA88-B9D9-1715C8D5F660}"/>
              </a:ext>
            </a:extLst>
          </p:cNvPr>
          <p:cNvPicPr>
            <a:picLocks noChangeAspect="1"/>
          </p:cNvPicPr>
          <p:nvPr/>
        </p:nvPicPr>
        <p:blipFill>
          <a:blip r:embed="rId3"/>
          <a:stretch>
            <a:fillRect/>
          </a:stretch>
        </p:blipFill>
        <p:spPr>
          <a:xfrm>
            <a:off x="380634" y="1229594"/>
            <a:ext cx="5574396" cy="5376351"/>
          </a:xfrm>
          <a:prstGeom prst="rect">
            <a:avLst/>
          </a:prstGeom>
        </p:spPr>
      </p:pic>
      <p:pic>
        <p:nvPicPr>
          <p:cNvPr id="7" name="Picture 6">
            <a:extLst>
              <a:ext uri="{FF2B5EF4-FFF2-40B4-BE49-F238E27FC236}">
                <a16:creationId xmlns:a16="http://schemas.microsoft.com/office/drawing/2014/main" id="{581A62A1-172D-A621-08B9-E07E05205AFF}"/>
              </a:ext>
            </a:extLst>
          </p:cNvPr>
          <p:cNvPicPr>
            <a:picLocks noChangeAspect="1"/>
          </p:cNvPicPr>
          <p:nvPr/>
        </p:nvPicPr>
        <p:blipFill>
          <a:blip r:embed="rId4"/>
          <a:stretch>
            <a:fillRect/>
          </a:stretch>
        </p:blipFill>
        <p:spPr>
          <a:xfrm>
            <a:off x="6236972" y="1229594"/>
            <a:ext cx="5758750" cy="5102626"/>
          </a:xfrm>
          <a:prstGeom prst="rect">
            <a:avLst/>
          </a:prstGeom>
        </p:spPr>
      </p:pic>
    </p:spTree>
    <p:extLst>
      <p:ext uri="{BB962C8B-B14F-4D97-AF65-F5344CB8AC3E}">
        <p14:creationId xmlns:p14="http://schemas.microsoft.com/office/powerpoint/2010/main" val="1759964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9F90-0BEB-BD03-9847-A0AF1FD87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9D973-16B8-FFF0-A027-5A5CEB25B393}"/>
              </a:ext>
            </a:extLst>
          </p:cNvPr>
          <p:cNvSpPr>
            <a:spLocks noGrp="1"/>
          </p:cNvSpPr>
          <p:nvPr>
            <p:ph type="title"/>
          </p:nvPr>
        </p:nvSpPr>
        <p:spPr>
          <a:xfrm>
            <a:off x="108622" y="156238"/>
            <a:ext cx="9165380" cy="1320800"/>
          </a:xfrm>
        </p:spPr>
        <p:txBody>
          <a:bodyPr>
            <a:normAutofit fontScale="90000"/>
          </a:bodyPr>
          <a:lstStyle/>
          <a:p>
            <a:r>
              <a:rPr lang="en-US" b="1" dirty="0"/>
              <a:t>Ethics, Data Management &amp; Supply Chain Safeguards</a:t>
            </a:r>
            <a:br>
              <a:rPr lang="en-US" b="1" dirty="0"/>
            </a:br>
            <a:endParaRPr lang="en-US" dirty="0"/>
          </a:p>
        </p:txBody>
      </p:sp>
      <p:sp>
        <p:nvSpPr>
          <p:cNvPr id="4" name="Content Placeholder 3">
            <a:extLst>
              <a:ext uri="{FF2B5EF4-FFF2-40B4-BE49-F238E27FC236}">
                <a16:creationId xmlns:a16="http://schemas.microsoft.com/office/drawing/2014/main" id="{83BF4E56-0CED-FDBE-248B-8C526368DC97}"/>
              </a:ext>
            </a:extLst>
          </p:cNvPr>
          <p:cNvSpPr>
            <a:spLocks noGrp="1"/>
          </p:cNvSpPr>
          <p:nvPr>
            <p:ph idx="1"/>
          </p:nvPr>
        </p:nvSpPr>
        <p:spPr>
          <a:xfrm>
            <a:off x="401445" y="1477038"/>
            <a:ext cx="8965579" cy="5091030"/>
          </a:xfrm>
        </p:spPr>
        <p:txBody>
          <a:bodyPr>
            <a:normAutofit/>
          </a:bodyPr>
          <a:lstStyle/>
          <a:p>
            <a:r>
              <a:rPr lang="en-US" b="1" dirty="0"/>
              <a:t>Privacy &amp; Confidentiality:</a:t>
            </a:r>
            <a:r>
              <a:rPr lang="en-US" dirty="0"/>
              <a:t> De-identification (pseudonyms, removal of identifiers), AES-256 encryption at rest/transit, least-privilege access (quarterly reviews), secure erasure post-retention (5 years). </a:t>
            </a:r>
            <a:r>
              <a:rPr lang="en-US" i="1" dirty="0"/>
              <a:t>Mitigates:</a:t>
            </a:r>
            <a:r>
              <a:rPr lang="en-US" dirty="0"/>
              <a:t> Re-identification, parameter leakage risks (Week 7).</a:t>
            </a:r>
          </a:p>
          <a:p>
            <a:r>
              <a:rPr lang="en-US" b="1" dirty="0"/>
              <a:t>Data Handling:</a:t>
            </a:r>
            <a:r>
              <a:rPr lang="en-US" dirty="0"/>
              <a:t> Git versioning with checksums, </a:t>
            </a:r>
            <a:r>
              <a:rPr lang="en-US" dirty="0" err="1"/>
              <a:t>Jupyter</a:t>
            </a:r>
            <a:r>
              <a:rPr lang="en-US" dirty="0"/>
              <a:t> transformation logs, encrypted S3 backups. Sensitive data (interviews, test logs) not shared; aggregated results published. </a:t>
            </a:r>
            <a:r>
              <a:rPr lang="en-US" i="1" dirty="0"/>
              <a:t>Reference:</a:t>
            </a:r>
            <a:r>
              <a:rPr lang="en-US" dirty="0"/>
              <a:t> DMP.md</a:t>
            </a:r>
          </a:p>
          <a:p>
            <a:r>
              <a:rPr lang="en-US" b="1" dirty="0"/>
              <a:t>Supplier Risk (PQC Libraries):</a:t>
            </a:r>
            <a:r>
              <a:rPr lang="en-US" dirty="0"/>
              <a:t> Open-source Kyber/</a:t>
            </a:r>
            <a:r>
              <a:rPr lang="en-US" dirty="0" err="1"/>
              <a:t>Dilithium</a:t>
            </a:r>
            <a:r>
              <a:rPr lang="en-US" dirty="0"/>
              <a:t>/SPHINCS tracked via SBOM (Software Bill of Materials) with checksums; proactive vulnerability monitoring in CI/CD. </a:t>
            </a:r>
            <a:r>
              <a:rPr lang="en-US" i="1" dirty="0"/>
              <a:t>Reference:</a:t>
            </a:r>
            <a:r>
              <a:rPr lang="en-US" dirty="0"/>
              <a:t> docs/cSRM_note.md</a:t>
            </a:r>
          </a:p>
          <a:p>
            <a:r>
              <a:rPr lang="en-US" b="1" dirty="0"/>
              <a:t>Control Mapped:</a:t>
            </a:r>
            <a:r>
              <a:rPr lang="en-US" dirty="0"/>
              <a:t> AU-2 (Audit Events) – SP 800-53 Rev.5 – organization-defined event logging for privacy incident detection and accountability.</a:t>
            </a:r>
          </a:p>
        </p:txBody>
      </p:sp>
    </p:spTree>
    <p:extLst>
      <p:ext uri="{BB962C8B-B14F-4D97-AF65-F5344CB8AC3E}">
        <p14:creationId xmlns:p14="http://schemas.microsoft.com/office/powerpoint/2010/main" val="3830700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EA2DA-ADBC-8CDA-6688-930179AFD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59268-8A6B-4686-E3DE-0CB20473C6BF}"/>
              </a:ext>
            </a:extLst>
          </p:cNvPr>
          <p:cNvSpPr>
            <a:spLocks noGrp="1"/>
          </p:cNvSpPr>
          <p:nvPr>
            <p:ph type="title"/>
          </p:nvPr>
        </p:nvSpPr>
        <p:spPr>
          <a:xfrm>
            <a:off x="108622" y="156238"/>
            <a:ext cx="9165380" cy="1320800"/>
          </a:xfrm>
        </p:spPr>
        <p:txBody>
          <a:bodyPr>
            <a:normAutofit/>
          </a:bodyPr>
          <a:lstStyle/>
          <a:p>
            <a:r>
              <a:rPr lang="en-US" b="1" dirty="0"/>
              <a:t>Evaluation Plan: Metrics &amp; Traceability Chain</a:t>
            </a:r>
            <a:endParaRPr lang="en-US" dirty="0"/>
          </a:p>
        </p:txBody>
      </p:sp>
      <p:sp>
        <p:nvSpPr>
          <p:cNvPr id="4" name="Content Placeholder 3">
            <a:extLst>
              <a:ext uri="{FF2B5EF4-FFF2-40B4-BE49-F238E27FC236}">
                <a16:creationId xmlns:a16="http://schemas.microsoft.com/office/drawing/2014/main" id="{0E370F17-6E79-391A-AAA0-52C332EBA8BD}"/>
              </a:ext>
            </a:extLst>
          </p:cNvPr>
          <p:cNvSpPr>
            <a:spLocks noGrp="1"/>
          </p:cNvSpPr>
          <p:nvPr>
            <p:ph idx="1"/>
          </p:nvPr>
        </p:nvSpPr>
        <p:spPr>
          <a:xfrm>
            <a:off x="401445" y="1477038"/>
            <a:ext cx="8965579" cy="5091030"/>
          </a:xfrm>
        </p:spPr>
        <p:txBody>
          <a:bodyPr>
            <a:normAutofit/>
          </a:bodyPr>
          <a:lstStyle/>
          <a:p>
            <a:pPr marL="0" indent="0">
              <a:buNone/>
            </a:pPr>
            <a:r>
              <a:rPr lang="en-US" b="1" dirty="0"/>
              <a:t>Risk → Requirement → Metric → Evidence</a:t>
            </a:r>
          </a:p>
          <a:p>
            <a:r>
              <a:rPr lang="en-US" b="1" dirty="0"/>
              <a:t>Example Chain (Week 11):</a:t>
            </a:r>
            <a:br>
              <a:rPr lang="en-US" dirty="0"/>
            </a:br>
            <a:r>
              <a:rPr lang="en-US" i="1" dirty="0"/>
              <a:t>Risk:</a:t>
            </a:r>
            <a:r>
              <a:rPr lang="en-US" dirty="0"/>
              <a:t> Insufficient PQC performance metrics → </a:t>
            </a:r>
            <a:r>
              <a:rPr lang="en-US" i="1" dirty="0"/>
              <a:t>Requirement (800-171r3 03.02.01):</a:t>
            </a:r>
            <a:r>
              <a:rPr lang="en-US" dirty="0"/>
              <a:t> Establish baseline of security-relevant data sources → </a:t>
            </a:r>
            <a:r>
              <a:rPr lang="en-US" i="1" dirty="0"/>
              <a:t>Metric:</a:t>
            </a:r>
            <a:r>
              <a:rPr lang="en-US" dirty="0"/>
              <a:t> Source Coverage Ratio = (unique PQC sources) / (total cited) → </a:t>
            </a:r>
            <a:r>
              <a:rPr lang="en-US" i="1" dirty="0"/>
              <a:t>Evidence:</a:t>
            </a:r>
            <a:r>
              <a:rPr lang="en-US" dirty="0"/>
              <a:t> docs/sourcecount.csv (weekly update post-literature search)</a:t>
            </a:r>
          </a:p>
          <a:p>
            <a:r>
              <a:rPr lang="en-US" b="1" dirty="0"/>
              <a:t>SMART Metrics (Week 11 Artifact)</a:t>
            </a:r>
          </a:p>
          <a:p>
            <a:endParaRPr lang="en-US" dirty="0"/>
          </a:p>
          <a:p>
            <a:pPr marL="0" indent="0">
              <a:buNone/>
            </a:pPr>
            <a:endParaRPr lang="en-US" dirty="0"/>
          </a:p>
        </p:txBody>
      </p:sp>
      <p:graphicFrame>
        <p:nvGraphicFramePr>
          <p:cNvPr id="3" name="Table 2">
            <a:extLst>
              <a:ext uri="{FF2B5EF4-FFF2-40B4-BE49-F238E27FC236}">
                <a16:creationId xmlns:a16="http://schemas.microsoft.com/office/drawing/2014/main" id="{8B71C10B-A10F-AFD2-79E3-3C79001D6C41}"/>
              </a:ext>
            </a:extLst>
          </p:cNvPr>
          <p:cNvGraphicFramePr>
            <a:graphicFrameLocks noGrp="1"/>
          </p:cNvGraphicFramePr>
          <p:nvPr>
            <p:extLst>
              <p:ext uri="{D42A27DB-BD31-4B8C-83A1-F6EECF244321}">
                <p14:modId xmlns:p14="http://schemas.microsoft.com/office/powerpoint/2010/main" val="2179793476"/>
              </p:ext>
            </p:extLst>
          </p:nvPr>
        </p:nvGraphicFramePr>
        <p:xfrm>
          <a:off x="655479" y="3885828"/>
          <a:ext cx="8001000" cy="2682240"/>
        </p:xfrm>
        <a:graphic>
          <a:graphicData uri="http://schemas.openxmlformats.org/drawingml/2006/table">
            <a:tbl>
              <a:tblPr/>
              <a:tblGrid>
                <a:gridCol w="2667000">
                  <a:extLst>
                    <a:ext uri="{9D8B030D-6E8A-4147-A177-3AD203B41FA5}">
                      <a16:colId xmlns:a16="http://schemas.microsoft.com/office/drawing/2014/main" val="2780516073"/>
                    </a:ext>
                  </a:extLst>
                </a:gridCol>
                <a:gridCol w="2667000">
                  <a:extLst>
                    <a:ext uri="{9D8B030D-6E8A-4147-A177-3AD203B41FA5}">
                      <a16:colId xmlns:a16="http://schemas.microsoft.com/office/drawing/2014/main" val="1580977618"/>
                    </a:ext>
                  </a:extLst>
                </a:gridCol>
                <a:gridCol w="2667000">
                  <a:extLst>
                    <a:ext uri="{9D8B030D-6E8A-4147-A177-3AD203B41FA5}">
                      <a16:colId xmlns:a16="http://schemas.microsoft.com/office/drawing/2014/main" val="4261855332"/>
                    </a:ext>
                  </a:extLst>
                </a:gridCol>
              </a:tblGrid>
              <a:tr h="0">
                <a:tc>
                  <a:txBody>
                    <a:bodyPr/>
                    <a:lstStyle/>
                    <a:p>
                      <a:pPr algn="l">
                        <a:buNone/>
                      </a:pPr>
                      <a:r>
                        <a:rPr lang="en-US" dirty="0">
                          <a:solidFill>
                            <a:srgbClr val="FFFFFF"/>
                          </a:solidFill>
                          <a:effectLst/>
                        </a:rPr>
                        <a:t>Metric Name</a:t>
                      </a:r>
                    </a:p>
                  </a:txBody>
                  <a:tcPr marL="95250" marR="95250" marT="95250" marB="95250" anchor="ctr">
                    <a:lnL w="9525" cap="flat" cmpd="sng" algn="ctr">
                      <a:solidFill>
                        <a:srgbClr val="DDDDDD"/>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052A3"/>
                    </a:solidFill>
                  </a:tcPr>
                </a:tc>
                <a:tc>
                  <a:txBody>
                    <a:bodyPr/>
                    <a:lstStyle/>
                    <a:p>
                      <a:pPr algn="l">
                        <a:buNone/>
                      </a:pPr>
                      <a:r>
                        <a:rPr lang="en-US" dirty="0">
                          <a:solidFill>
                            <a:srgbClr val="FFFFFF"/>
                          </a:solidFill>
                          <a:effectLst/>
                        </a:rPr>
                        <a:t>Formula / Definition</a:t>
                      </a:r>
                    </a:p>
                  </a:txBody>
                  <a:tcPr marL="95250" marR="95250" marT="95250" marB="9525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52A3"/>
                    </a:solidFill>
                  </a:tcPr>
                </a:tc>
                <a:tc>
                  <a:txBody>
                    <a:bodyPr/>
                    <a:lstStyle/>
                    <a:p>
                      <a:pPr algn="l">
                        <a:buNone/>
                      </a:pPr>
                      <a:r>
                        <a:rPr lang="en-US">
                          <a:solidFill>
                            <a:srgbClr val="FFFFFF"/>
                          </a:solidFill>
                          <a:effectLst/>
                        </a:rPr>
                        <a:t>Data Source</a:t>
                      </a:r>
                    </a:p>
                  </a:txBody>
                  <a:tcPr marL="95250" marR="95250" marT="95250" marB="95250" anchor="ctr">
                    <a:lnL w="19050" cap="flat" cmpd="sng" algn="ctr">
                      <a:solidFill>
                        <a:schemeClr val="tx1"/>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0052A3"/>
                    </a:solidFill>
                  </a:tcPr>
                </a:tc>
                <a:extLst>
                  <a:ext uri="{0D108BD9-81ED-4DB2-BD59-A6C34878D82A}">
                    <a16:rowId xmlns:a16="http://schemas.microsoft.com/office/drawing/2014/main" val="1970711820"/>
                  </a:ext>
                </a:extLst>
              </a:tr>
              <a:tr h="0">
                <a:tc>
                  <a:txBody>
                    <a:bodyPr/>
                    <a:lstStyle/>
                    <a:p>
                      <a:pPr algn="l">
                        <a:buNone/>
                      </a:pPr>
                      <a:r>
                        <a:rPr lang="en-US">
                          <a:effectLst/>
                        </a:rPr>
                        <a:t>Source Coverage</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buNone/>
                      </a:pPr>
                      <a:r>
                        <a:rPr lang="fr-FR">
                          <a:effectLst/>
                        </a:rPr>
                        <a:t>Unique PQC sources / Total sources</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buNone/>
                      </a:pPr>
                      <a:r>
                        <a:rPr lang="en-US">
                          <a:effectLst/>
                          <a:latin typeface="Courier New" panose="02070309020205020404" pitchFamily="49" charset="0"/>
                        </a:rPr>
                        <a:t>docs/sourcecount.csv</a:t>
                      </a:r>
                      <a:endParaRPr lang="en-US">
                        <a:effectLst/>
                      </a:endParaRP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42949511"/>
                  </a:ext>
                </a:extLst>
              </a:tr>
              <a:tr h="0">
                <a:tc>
                  <a:txBody>
                    <a:bodyPr/>
                    <a:lstStyle/>
                    <a:p>
                      <a:pPr algn="l">
                        <a:buNone/>
                      </a:pPr>
                      <a:r>
                        <a:rPr lang="en-US">
                          <a:effectLst/>
                        </a:rPr>
                        <a:t>Reference Freshness</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effectLst/>
                        </a:rPr>
                        <a:t>Avg. publication year (goal: &gt;75% post-2023)</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tc>
                  <a:txBody>
                    <a:bodyPr/>
                    <a:lstStyle/>
                    <a:p>
                      <a:pPr algn="l">
                        <a:buNone/>
                      </a:pPr>
                      <a:r>
                        <a:rPr lang="en-US">
                          <a:effectLst/>
                          <a:latin typeface="Courier New" panose="02070309020205020404" pitchFamily="49" charset="0"/>
                        </a:rPr>
                        <a:t>docs/sourcelog.csv</a:t>
                      </a:r>
                      <a:endParaRPr lang="en-US">
                        <a:effectLst/>
                      </a:endParaRP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3703743023"/>
                  </a:ext>
                </a:extLst>
              </a:tr>
              <a:tr h="0">
                <a:tc>
                  <a:txBody>
                    <a:bodyPr/>
                    <a:lstStyle/>
                    <a:p>
                      <a:pPr algn="l">
                        <a:buNone/>
                      </a:pPr>
                      <a:r>
                        <a:rPr lang="en-US">
                          <a:effectLst/>
                        </a:rPr>
                        <a:t>Privacy Incident Rate</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buNone/>
                      </a:pPr>
                      <a:r>
                        <a:rPr lang="en-US">
                          <a:effectLst/>
                        </a:rPr>
                        <a:t>Leaked test runs / Total test runs</a:t>
                      </a: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a:buNone/>
                      </a:pPr>
                      <a:r>
                        <a:rPr lang="en-US" dirty="0">
                          <a:effectLst/>
                          <a:latin typeface="Courier New" panose="02070309020205020404" pitchFamily="49" charset="0"/>
                        </a:rPr>
                        <a:t>docs/logs/testoutput.log</a:t>
                      </a:r>
                      <a:endParaRPr lang="en-US" dirty="0">
                        <a:effectLst/>
                      </a:endParaRPr>
                    </a:p>
                  </a:txBody>
                  <a:tcPr marL="95250" marR="95250" marT="95250" marB="952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extLst>
                  <a:ext uri="{0D108BD9-81ED-4DB2-BD59-A6C34878D82A}">
                    <a16:rowId xmlns:a16="http://schemas.microsoft.com/office/drawing/2014/main" val="145154087"/>
                  </a:ext>
                </a:extLst>
              </a:tr>
            </a:tbl>
          </a:graphicData>
        </a:graphic>
      </p:graphicFrame>
      <p:sp>
        <p:nvSpPr>
          <p:cNvPr id="5" name="Rectangle 1">
            <a:extLst>
              <a:ext uri="{FF2B5EF4-FFF2-40B4-BE49-F238E27FC236}">
                <a16:creationId xmlns:a16="http://schemas.microsoft.com/office/drawing/2014/main" id="{612988FB-13B2-348D-46FC-6BBE1EC36B7D}"/>
              </a:ext>
            </a:extLst>
          </p:cNvPr>
          <p:cNvSpPr>
            <a:spLocks noChangeArrowheads="1"/>
          </p:cNvSpPr>
          <p:nvPr/>
        </p:nvSpPr>
        <p:spPr bwMode="auto">
          <a:xfrm>
            <a:off x="656273" y="388630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3D7A"/>
                </a:solidFill>
                <a:effectLst/>
                <a:latin typeface="Segoe UI" panose="020B0502040204020203" pitchFamily="34" charset="0"/>
                <a:cs typeface="Segoe UI" panose="020B0502040204020203" pitchFamily="34" charset="0"/>
              </a:rPr>
              <a:t>SMART Metrics (Week 11 Artifact)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3469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D0898-4986-609A-55CF-32D544382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94D66-EC9C-6367-21BB-497A6FBE2E15}"/>
              </a:ext>
            </a:extLst>
          </p:cNvPr>
          <p:cNvSpPr>
            <a:spLocks noGrp="1"/>
          </p:cNvSpPr>
          <p:nvPr>
            <p:ph type="title"/>
          </p:nvPr>
        </p:nvSpPr>
        <p:spPr>
          <a:xfrm>
            <a:off x="108622" y="156238"/>
            <a:ext cx="9165380" cy="1320800"/>
          </a:xfrm>
        </p:spPr>
        <p:txBody>
          <a:bodyPr>
            <a:normAutofit/>
          </a:bodyPr>
          <a:lstStyle/>
          <a:p>
            <a:r>
              <a:rPr lang="en-US" b="1" dirty="0"/>
              <a:t>CSF CURRENT → TARGET PROFILE (SP 1301 GOVERNANCE APPROACH)</a:t>
            </a:r>
            <a:endParaRPr lang="en-US" dirty="0"/>
          </a:p>
        </p:txBody>
      </p:sp>
      <p:sp>
        <p:nvSpPr>
          <p:cNvPr id="4" name="Content Placeholder 3">
            <a:extLst>
              <a:ext uri="{FF2B5EF4-FFF2-40B4-BE49-F238E27FC236}">
                <a16:creationId xmlns:a16="http://schemas.microsoft.com/office/drawing/2014/main" id="{D3BC83F4-B75D-3F8B-06F2-167225E0096A}"/>
              </a:ext>
            </a:extLst>
          </p:cNvPr>
          <p:cNvSpPr>
            <a:spLocks noGrp="1"/>
          </p:cNvSpPr>
          <p:nvPr>
            <p:ph idx="1"/>
          </p:nvPr>
        </p:nvSpPr>
        <p:spPr>
          <a:xfrm>
            <a:off x="401445" y="1477038"/>
            <a:ext cx="8965579" cy="5091030"/>
          </a:xfrm>
        </p:spPr>
        <p:txBody>
          <a:bodyPr>
            <a:normAutofit/>
          </a:bodyPr>
          <a:lstStyle/>
          <a:p>
            <a:endParaRPr lang="en-US" dirty="0"/>
          </a:p>
          <a:p>
            <a:pPr marL="0" indent="0">
              <a:buNone/>
            </a:pPr>
            <a:endParaRPr lang="en-US" dirty="0"/>
          </a:p>
        </p:txBody>
      </p:sp>
      <p:sp>
        <p:nvSpPr>
          <p:cNvPr id="7" name="TextBox 6">
            <a:extLst>
              <a:ext uri="{FF2B5EF4-FFF2-40B4-BE49-F238E27FC236}">
                <a16:creationId xmlns:a16="http://schemas.microsoft.com/office/drawing/2014/main" id="{BF8BF2DF-CE25-5399-6F99-102FA5FFA631}"/>
              </a:ext>
            </a:extLst>
          </p:cNvPr>
          <p:cNvSpPr txBox="1"/>
          <p:nvPr/>
        </p:nvSpPr>
        <p:spPr>
          <a:xfrm>
            <a:off x="305752" y="1273892"/>
            <a:ext cx="9615487" cy="4829527"/>
          </a:xfrm>
          <a:prstGeom prst="rect">
            <a:avLst/>
          </a:prstGeom>
          <a:noFill/>
        </p:spPr>
        <p:txBody>
          <a:bodyPr wrap="square">
            <a:spAutoFit/>
          </a:bodyPr>
          <a:lstStyle/>
          <a:p>
            <a:pPr algn="l">
              <a:spcBef>
                <a:spcPts val="1200"/>
              </a:spcBef>
              <a:spcAft>
                <a:spcPts val="1050"/>
              </a:spcAft>
              <a:buNone/>
            </a:pPr>
            <a:r>
              <a:rPr lang="en-US" b="1" i="0" dirty="0">
                <a:solidFill>
                  <a:srgbClr val="003D7A"/>
                </a:solidFill>
                <a:effectLst/>
                <a:latin typeface="Segoe UI" panose="020B0502040204020203" pitchFamily="34" charset="0"/>
              </a:rPr>
              <a:t>Organizational Cryptographic Maturity</a:t>
            </a:r>
          </a:p>
          <a:p>
            <a:pPr algn="l">
              <a:spcBef>
                <a:spcPts val="750"/>
              </a:spcBef>
              <a:spcAft>
                <a:spcPts val="750"/>
              </a:spcAft>
              <a:buNone/>
            </a:pPr>
            <a:r>
              <a:rPr lang="en-US" b="1" i="0" dirty="0">
                <a:solidFill>
                  <a:srgbClr val="000000"/>
                </a:solidFill>
                <a:effectLst/>
                <a:latin typeface="Segoe UI" panose="020B0502040204020203" pitchFamily="34" charset="0"/>
              </a:rPr>
              <a:t>Outcome 1: PR.DS (Data Security, p. 25)</a:t>
            </a:r>
            <a:br>
              <a:rPr lang="en-US" b="0" i="0" dirty="0">
                <a:solidFill>
                  <a:srgbClr val="000000"/>
                </a:solidFill>
                <a:effectLst/>
                <a:latin typeface="Segoe UI" panose="020B0502040204020203" pitchFamily="34" charset="0"/>
              </a:rPr>
            </a:br>
            <a:r>
              <a:rPr lang="en-US" b="1" i="0" dirty="0">
                <a:solidFill>
                  <a:srgbClr val="000000"/>
                </a:solidFill>
                <a:effectLst/>
                <a:latin typeface="Segoe UI" panose="020B0502040204020203" pitchFamily="34" charset="0"/>
              </a:rPr>
              <a:t>Current:</a:t>
            </a:r>
            <a:r>
              <a:rPr lang="en-US" b="0" i="0" dirty="0">
                <a:solidFill>
                  <a:srgbClr val="000000"/>
                </a:solidFill>
                <a:effectLst/>
                <a:latin typeface="Segoe UI" panose="020B0502040204020203" pitchFamily="34" charset="0"/>
              </a:rPr>
              <a:t> Organizations manage classical RSA/ECC with manual key lifecycle; de facto monitoring of cryptographic operations.</a:t>
            </a:r>
            <a:br>
              <a:rPr lang="en-US" b="0" i="0" dirty="0">
                <a:solidFill>
                  <a:srgbClr val="000000"/>
                </a:solidFill>
                <a:effectLst/>
                <a:latin typeface="Segoe UI" panose="020B0502040204020203" pitchFamily="34" charset="0"/>
              </a:rPr>
            </a:br>
            <a:r>
              <a:rPr lang="en-US" b="1" i="0" dirty="0">
                <a:solidFill>
                  <a:srgbClr val="000000"/>
                </a:solidFill>
                <a:effectLst/>
                <a:latin typeface="Segoe UI" panose="020B0502040204020203" pitchFamily="34" charset="0"/>
              </a:rPr>
              <a:t>Target:</a:t>
            </a:r>
            <a:r>
              <a:rPr lang="en-US" b="0" i="0" dirty="0">
                <a:solidFill>
                  <a:srgbClr val="000000"/>
                </a:solidFill>
                <a:effectLst/>
                <a:latin typeface="Segoe UI" panose="020B0502040204020203" pitchFamily="34" charset="0"/>
              </a:rPr>
              <a:t> NIST PQC algorithms (Kyber, </a:t>
            </a:r>
            <a:r>
              <a:rPr lang="en-US" b="0" i="0" dirty="0" err="1">
                <a:solidFill>
                  <a:srgbClr val="000000"/>
                </a:solidFill>
                <a:effectLst/>
                <a:latin typeface="Segoe UI" panose="020B0502040204020203" pitchFamily="34" charset="0"/>
              </a:rPr>
              <a:t>Dilithium</a:t>
            </a:r>
            <a:r>
              <a:rPr lang="en-US" b="0" i="0" dirty="0">
                <a:solidFill>
                  <a:srgbClr val="000000"/>
                </a:solidFill>
                <a:effectLst/>
                <a:latin typeface="Segoe UI" panose="020B0502040204020203" pitchFamily="34" charset="0"/>
              </a:rPr>
              <a:t>, SPHINCS) deployed with automated key management; real-time monitoring of cryptographic events and side-channel anomalies operationalized.</a:t>
            </a:r>
          </a:p>
          <a:p>
            <a:pPr algn="l">
              <a:spcBef>
                <a:spcPts val="750"/>
              </a:spcBef>
              <a:spcAft>
                <a:spcPts val="750"/>
              </a:spcAft>
              <a:buNone/>
            </a:pPr>
            <a:r>
              <a:rPr lang="en-US" b="1" i="0" dirty="0">
                <a:solidFill>
                  <a:srgbClr val="000000"/>
                </a:solidFill>
                <a:effectLst/>
                <a:latin typeface="Segoe UI" panose="020B0502040204020203" pitchFamily="34" charset="0"/>
              </a:rPr>
              <a:t>Outcome 2: PR.PS (Platform Security, p. 25)</a:t>
            </a:r>
            <a:br>
              <a:rPr lang="en-US" b="0" i="0" dirty="0">
                <a:solidFill>
                  <a:srgbClr val="000000"/>
                </a:solidFill>
                <a:effectLst/>
                <a:latin typeface="Segoe UI" panose="020B0502040204020203" pitchFamily="34" charset="0"/>
              </a:rPr>
            </a:br>
            <a:r>
              <a:rPr lang="en-US" b="1" i="0" dirty="0">
                <a:solidFill>
                  <a:srgbClr val="000000"/>
                </a:solidFill>
                <a:effectLst/>
                <a:latin typeface="Segoe UI" panose="020B0502040204020203" pitchFamily="34" charset="0"/>
              </a:rPr>
              <a:t>Current:</a:t>
            </a:r>
            <a:r>
              <a:rPr lang="en-US" b="0" i="0" dirty="0">
                <a:solidFill>
                  <a:srgbClr val="000000"/>
                </a:solidFill>
                <a:effectLst/>
                <a:latin typeface="Segoe UI" panose="020B0502040204020203" pitchFamily="34" charset="0"/>
              </a:rPr>
              <a:t> Legacy cryptographic libraries; inconsistent version tracking; ad-hoc patching cycles.</a:t>
            </a:r>
            <a:br>
              <a:rPr lang="en-US" b="0" i="0" dirty="0">
                <a:solidFill>
                  <a:srgbClr val="000000"/>
                </a:solidFill>
                <a:effectLst/>
                <a:latin typeface="Segoe UI" panose="020B0502040204020203" pitchFamily="34" charset="0"/>
              </a:rPr>
            </a:br>
            <a:r>
              <a:rPr lang="en-US" b="1" i="0" dirty="0">
                <a:solidFill>
                  <a:srgbClr val="000000"/>
                </a:solidFill>
                <a:effectLst/>
                <a:latin typeface="Segoe UI" panose="020B0502040204020203" pitchFamily="34" charset="0"/>
              </a:rPr>
              <a:t>Target:</a:t>
            </a:r>
            <a:r>
              <a:rPr lang="en-US" b="0" i="0" dirty="0">
                <a:solidFill>
                  <a:srgbClr val="000000"/>
                </a:solidFill>
                <a:effectLst/>
                <a:latin typeface="Segoe UI" panose="020B0502040204020203" pitchFamily="34" charset="0"/>
              </a:rPr>
              <a:t> SBOM-tracked PQC implementations; continuous vulnerability scanning (CI/CD); proactive patch management per NIST SP 800-161r1 supply chain guidance.</a:t>
            </a:r>
          </a:p>
          <a:p>
            <a:pPr algn="l">
              <a:spcBef>
                <a:spcPts val="750"/>
              </a:spcBef>
              <a:spcAft>
                <a:spcPts val="750"/>
              </a:spcAft>
              <a:buNone/>
            </a:pPr>
            <a:endParaRPr lang="en-US" dirty="0">
              <a:solidFill>
                <a:srgbClr val="000000"/>
              </a:solidFill>
              <a:latin typeface="Segoe UI" panose="020B0502040204020203" pitchFamily="34" charset="0"/>
            </a:endParaRPr>
          </a:p>
          <a:p>
            <a:pPr>
              <a:spcBef>
                <a:spcPts val="750"/>
              </a:spcBef>
              <a:spcAft>
                <a:spcPts val="750"/>
              </a:spcAft>
            </a:pPr>
            <a:r>
              <a:rPr lang="en-US" dirty="0">
                <a:solidFill>
                  <a:srgbClr val="000000"/>
                </a:solidFill>
                <a:latin typeface="Segoe UI" panose="020B0502040204020203" pitchFamily="34" charset="0"/>
              </a:rPr>
              <a:t>Data are managed consistent with the organization's risk strategy to protect the confidentiality, integrity, and availability of information."(CSF 2.0, Appendix A, PR.DS, p. 25)</a:t>
            </a:r>
            <a:endParaRPr lang="en-US" b="0" i="0" dirty="0">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210118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CA30-47B6-418E-FE5B-B010A790C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AAD051-90AB-337B-F962-C3429B663A5B}"/>
              </a:ext>
            </a:extLst>
          </p:cNvPr>
          <p:cNvSpPr>
            <a:spLocks noGrp="1"/>
          </p:cNvSpPr>
          <p:nvPr>
            <p:ph type="title"/>
          </p:nvPr>
        </p:nvSpPr>
        <p:spPr>
          <a:xfrm>
            <a:off x="108622" y="156238"/>
            <a:ext cx="9165380" cy="1320800"/>
          </a:xfrm>
        </p:spPr>
        <p:txBody>
          <a:bodyPr>
            <a:normAutofit/>
          </a:bodyPr>
          <a:lstStyle/>
          <a:p>
            <a:r>
              <a:rPr lang="en-US" b="1" dirty="0"/>
              <a:t>Reproducibility</a:t>
            </a:r>
            <a:endParaRPr lang="en-US" dirty="0"/>
          </a:p>
        </p:txBody>
      </p:sp>
      <p:sp>
        <p:nvSpPr>
          <p:cNvPr id="4" name="Content Placeholder 3">
            <a:extLst>
              <a:ext uri="{FF2B5EF4-FFF2-40B4-BE49-F238E27FC236}">
                <a16:creationId xmlns:a16="http://schemas.microsoft.com/office/drawing/2014/main" id="{3BF17AB9-CD48-4CBD-8649-E72A47E4860C}"/>
              </a:ext>
            </a:extLst>
          </p:cNvPr>
          <p:cNvSpPr>
            <a:spLocks noGrp="1"/>
          </p:cNvSpPr>
          <p:nvPr>
            <p:ph idx="1"/>
          </p:nvPr>
        </p:nvSpPr>
        <p:spPr>
          <a:xfrm>
            <a:off x="401445" y="1477038"/>
            <a:ext cx="8965579" cy="5091030"/>
          </a:xfrm>
        </p:spPr>
        <p:txBody>
          <a:bodyPr>
            <a:normAutofit/>
          </a:bodyPr>
          <a:lstStyle/>
          <a:p>
            <a:endParaRPr lang="en-US" dirty="0"/>
          </a:p>
          <a:p>
            <a:pPr marL="0" indent="0">
              <a:buNone/>
            </a:pPr>
            <a:endParaRPr lang="en-US" dirty="0"/>
          </a:p>
        </p:txBody>
      </p:sp>
      <p:sp>
        <p:nvSpPr>
          <p:cNvPr id="7" name="TextBox 6">
            <a:extLst>
              <a:ext uri="{FF2B5EF4-FFF2-40B4-BE49-F238E27FC236}">
                <a16:creationId xmlns:a16="http://schemas.microsoft.com/office/drawing/2014/main" id="{BC4C32B3-7EE1-BA63-FE2D-22B483E1D3A2}"/>
              </a:ext>
            </a:extLst>
          </p:cNvPr>
          <p:cNvSpPr txBox="1"/>
          <p:nvPr/>
        </p:nvSpPr>
        <p:spPr>
          <a:xfrm>
            <a:off x="282973" y="935757"/>
            <a:ext cx="11626053" cy="5909310"/>
          </a:xfrm>
          <a:prstGeom prst="rect">
            <a:avLst/>
          </a:prstGeom>
          <a:noFill/>
        </p:spPr>
        <p:txBody>
          <a:bodyPr wrap="square">
            <a:spAutoFit/>
          </a:bodyPr>
          <a:lstStyle/>
          <a:p>
            <a:r>
              <a:rPr lang="en-US" b="1" dirty="0"/>
              <a:t>From Week 9 Docker Assignment:</a:t>
            </a:r>
            <a:r>
              <a:rPr lang="en-US" dirty="0"/>
              <a:t> </a:t>
            </a:r>
            <a:r>
              <a:rPr lang="en-US" b="1" i="1" dirty="0"/>
              <a:t>docker build -t </a:t>
            </a:r>
            <a:r>
              <a:rPr lang="en-US" b="1" i="1" dirty="0" err="1"/>
              <a:t>pqcdev</a:t>
            </a:r>
            <a:r>
              <a:rPr lang="en-US" b="1" i="1" dirty="0"/>
              <a:t> . &amp;&amp; docker run --rm -v $(</a:t>
            </a:r>
            <a:r>
              <a:rPr lang="en-US" b="1" i="1" dirty="0" err="1"/>
              <a:t>pwd</a:t>
            </a:r>
            <a:r>
              <a:rPr lang="en-US" b="1" i="1" dirty="0"/>
              <a:t>):work </a:t>
            </a:r>
            <a:r>
              <a:rPr lang="en-US" b="1" i="1" dirty="0" err="1"/>
              <a:t>pqcdev</a:t>
            </a:r>
            <a:endParaRPr lang="en-US" b="1" i="1" dirty="0"/>
          </a:p>
          <a:p>
            <a:endParaRPr lang="en-US" dirty="0"/>
          </a:p>
          <a:p>
            <a:pPr marL="342900" indent="-342900">
              <a:buAutoNum type="arabicPeriod"/>
            </a:pPr>
            <a:r>
              <a:rPr lang="en-US" b="1" dirty="0"/>
              <a:t>docker build -t </a:t>
            </a:r>
            <a:r>
              <a:rPr lang="en-US" b="1" dirty="0" err="1"/>
              <a:t>pqcdev</a:t>
            </a:r>
            <a:r>
              <a:rPr lang="en-US" b="1" dirty="0"/>
              <a:t> .  </a:t>
            </a:r>
          </a:p>
          <a:p>
            <a:r>
              <a:rPr lang="en-US" b="1" dirty="0"/>
              <a:t>Builds Docker image named "</a:t>
            </a:r>
            <a:r>
              <a:rPr lang="en-US" b="1" dirty="0" err="1"/>
              <a:t>pqcdev</a:t>
            </a:r>
            <a:r>
              <a:rPr lang="en-US" b="1" dirty="0"/>
              <a:t>" </a:t>
            </a:r>
          </a:p>
          <a:p>
            <a:r>
              <a:rPr lang="en-US" b="1" dirty="0"/>
              <a:t>Includes: Python 3.11, pandas, analysis scripts </a:t>
            </a:r>
          </a:p>
          <a:p>
            <a:r>
              <a:rPr lang="en-US" b="1" dirty="0"/>
              <a:t>Creates reproducible environment (no local dependency conflicts)</a:t>
            </a:r>
            <a:br>
              <a:rPr lang="en-US" b="1" dirty="0"/>
            </a:br>
            <a:br>
              <a:rPr lang="en-US" b="1" dirty="0"/>
            </a:br>
            <a:r>
              <a:rPr lang="en-US" b="1" dirty="0"/>
              <a:t>2. docker run --rm -v $(</a:t>
            </a:r>
            <a:r>
              <a:rPr lang="en-US" b="1" dirty="0" err="1"/>
              <a:t>pwd</a:t>
            </a:r>
            <a:r>
              <a:rPr lang="en-US" b="1" dirty="0"/>
              <a:t>):/work </a:t>
            </a:r>
            <a:r>
              <a:rPr lang="en-US" b="1" dirty="0" err="1"/>
              <a:t>pqcdev</a:t>
            </a:r>
            <a:r>
              <a:rPr lang="en-US" b="1" dirty="0"/>
              <a:t> </a:t>
            </a:r>
          </a:p>
          <a:p>
            <a:r>
              <a:rPr lang="en-US" b="1" dirty="0"/>
              <a:t>Runs container from </a:t>
            </a:r>
            <a:r>
              <a:rPr lang="en-US" b="1" dirty="0" err="1"/>
              <a:t>pqcdev</a:t>
            </a:r>
            <a:r>
              <a:rPr lang="en-US" b="1" dirty="0"/>
              <a:t> image   \</a:t>
            </a:r>
          </a:p>
          <a:p>
            <a:r>
              <a:rPr lang="en-US" b="1" dirty="0"/>
              <a:t> Mounts current project directory as /work inside container </a:t>
            </a:r>
          </a:p>
          <a:p>
            <a:r>
              <a:rPr lang="en-US" b="1" dirty="0"/>
              <a:t>Executes analysis pipeline </a:t>
            </a:r>
          </a:p>
          <a:p>
            <a:r>
              <a:rPr lang="en-US" b="1" dirty="0"/>
              <a:t>--rm flag removes container after execution (clean system)</a:t>
            </a:r>
            <a:br>
              <a:rPr lang="en-US" b="1" dirty="0"/>
            </a:br>
            <a:br>
              <a:rPr lang="en-US" b="1" dirty="0"/>
            </a:br>
            <a:r>
              <a:rPr lang="en-US" b="1" dirty="0"/>
              <a:t>Anyone can run this exact command and produce identical results, regardless of local Python/library versions. Guarantees transparency and scientific rigor in capstone research.</a:t>
            </a:r>
            <a:br>
              <a:rPr lang="en-US" b="1" dirty="0"/>
            </a:br>
            <a:br>
              <a:rPr lang="en-US" b="1" dirty="0"/>
            </a:br>
            <a:r>
              <a:rPr lang="en-US" b="1" dirty="0"/>
              <a:t>Output Files Generated (in docs/):</a:t>
            </a:r>
          </a:p>
          <a:p>
            <a:r>
              <a:rPr lang="en-US" b="1" dirty="0"/>
              <a:t>1. docs/latencybyalgorithm.txt   Average execution time (</a:t>
            </a:r>
            <a:r>
              <a:rPr lang="en-US" b="1" dirty="0" err="1"/>
              <a:t>ms</a:t>
            </a:r>
            <a:r>
              <a:rPr lang="en-US" b="1" dirty="0"/>
              <a:t>) by PQC algorithm   Evidence for RQ-D1: Performance metrics across sectors  </a:t>
            </a:r>
            <a:br>
              <a:rPr lang="en-US" b="1" dirty="0"/>
            </a:br>
            <a:r>
              <a:rPr lang="en-US" b="1" dirty="0"/>
              <a:t>2. docs/attackratebysector.txt   Attack success rate (%) by organizational sector   Evidence for RQ-C2: Side-channel risk quantification</a:t>
            </a:r>
            <a:endParaRPr lang="en-US" dirty="0"/>
          </a:p>
        </p:txBody>
      </p:sp>
    </p:spTree>
    <p:extLst>
      <p:ext uri="{BB962C8B-B14F-4D97-AF65-F5344CB8AC3E}">
        <p14:creationId xmlns:p14="http://schemas.microsoft.com/office/powerpoint/2010/main" val="3418527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66DAB-2096-4D81-0807-8B037B85B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F73728-1BD5-0BC9-96AD-EF7DCBA9192A}"/>
              </a:ext>
            </a:extLst>
          </p:cNvPr>
          <p:cNvSpPr>
            <a:spLocks noGrp="1"/>
          </p:cNvSpPr>
          <p:nvPr>
            <p:ph type="title"/>
          </p:nvPr>
        </p:nvSpPr>
        <p:spPr>
          <a:xfrm>
            <a:off x="108622" y="156238"/>
            <a:ext cx="10752666" cy="1320800"/>
          </a:xfrm>
        </p:spPr>
        <p:txBody>
          <a:bodyPr>
            <a:normAutofit/>
          </a:bodyPr>
          <a:lstStyle/>
          <a:p>
            <a:r>
              <a:rPr lang="en-US" b="1" dirty="0"/>
              <a:t>IMPACT &amp; NEXT STEPS - RESEARCH VALUE &amp; SCALABILITY</a:t>
            </a:r>
            <a:endParaRPr lang="en-US" dirty="0"/>
          </a:p>
        </p:txBody>
      </p:sp>
      <p:sp>
        <p:nvSpPr>
          <p:cNvPr id="4" name="Content Placeholder 3">
            <a:extLst>
              <a:ext uri="{FF2B5EF4-FFF2-40B4-BE49-F238E27FC236}">
                <a16:creationId xmlns:a16="http://schemas.microsoft.com/office/drawing/2014/main" id="{3EA9B7CF-0E9E-C87E-D8BF-B116B65A53B6}"/>
              </a:ext>
            </a:extLst>
          </p:cNvPr>
          <p:cNvSpPr>
            <a:spLocks noGrp="1"/>
          </p:cNvSpPr>
          <p:nvPr>
            <p:ph idx="1"/>
          </p:nvPr>
        </p:nvSpPr>
        <p:spPr>
          <a:xfrm>
            <a:off x="401445" y="1477038"/>
            <a:ext cx="11444990" cy="5091030"/>
          </a:xfrm>
        </p:spPr>
        <p:txBody>
          <a:bodyPr>
            <a:normAutofit/>
          </a:bodyPr>
          <a:lstStyle/>
          <a:p>
            <a:endParaRPr lang="en-US" dirty="0"/>
          </a:p>
          <a:p>
            <a:pPr marL="0" indent="0">
              <a:buNone/>
            </a:pPr>
            <a:endParaRPr lang="en-US" dirty="0"/>
          </a:p>
        </p:txBody>
      </p:sp>
      <p:sp>
        <p:nvSpPr>
          <p:cNvPr id="7" name="TextBox 6">
            <a:extLst>
              <a:ext uri="{FF2B5EF4-FFF2-40B4-BE49-F238E27FC236}">
                <a16:creationId xmlns:a16="http://schemas.microsoft.com/office/drawing/2014/main" id="{01B42266-7C35-43CA-DEB4-238C3B4FE49E}"/>
              </a:ext>
            </a:extLst>
          </p:cNvPr>
          <p:cNvSpPr txBox="1"/>
          <p:nvPr/>
        </p:nvSpPr>
        <p:spPr>
          <a:xfrm>
            <a:off x="164502" y="1370655"/>
            <a:ext cx="11626053" cy="4801314"/>
          </a:xfrm>
          <a:prstGeom prst="rect">
            <a:avLst/>
          </a:prstGeom>
          <a:noFill/>
        </p:spPr>
        <p:txBody>
          <a:bodyPr wrap="square">
            <a:spAutoFit/>
          </a:bodyPr>
          <a:lstStyle/>
          <a:p>
            <a:r>
              <a:rPr lang="en-US" b="1" dirty="0"/>
              <a:t>Research Impact:</a:t>
            </a:r>
            <a:r>
              <a:rPr lang="en-US" dirty="0"/>
              <a:t> Provides empirical evidence for PQC deployment across three critical sectors; fills governance gap in industry standards integration.</a:t>
            </a:r>
            <a:br>
              <a:rPr lang="en-US" dirty="0"/>
            </a:br>
            <a:endParaRPr lang="en-US" dirty="0"/>
          </a:p>
          <a:p>
            <a:r>
              <a:rPr lang="en-US" b="1" dirty="0"/>
              <a:t>Organizational Value:</a:t>
            </a:r>
            <a:r>
              <a:rPr lang="en-US" dirty="0"/>
              <a:t> Delivers CSF 2.0-aligned migration roadmap, risk-managed transition playbook, and sector-specific algorithm recommendations.</a:t>
            </a:r>
            <a:br>
              <a:rPr lang="en-US" dirty="0"/>
            </a:br>
            <a:endParaRPr lang="en-US" dirty="0"/>
          </a:p>
          <a:p>
            <a:r>
              <a:rPr lang="en-US" b="1" dirty="0"/>
              <a:t>Scalability:</a:t>
            </a:r>
            <a:r>
              <a:rPr lang="en-US" dirty="0"/>
              <a:t> Reproducible methodology enables adoption by CISA, NSA, and private organizations managing quantum-resistant cryptography transitions.</a:t>
            </a:r>
          </a:p>
          <a:p>
            <a:br>
              <a:rPr lang="en-US" dirty="0"/>
            </a:br>
            <a:r>
              <a:rPr lang="en-US" dirty="0"/>
              <a:t>SCALABILITY &amp; NEXT STEPS:</a:t>
            </a:r>
          </a:p>
          <a:p>
            <a:r>
              <a:rPr lang="en-US" dirty="0"/>
              <a:t>This reproducible methodology enables adoption by:  </a:t>
            </a:r>
          </a:p>
          <a:p>
            <a:r>
              <a:rPr lang="en-US" dirty="0"/>
              <a:t>CISA and NSA for quantum readiness initiatives </a:t>
            </a:r>
          </a:p>
          <a:p>
            <a:r>
              <a:rPr lang="en-US" dirty="0"/>
              <a:t>Private organizations managing PQC transitions  </a:t>
            </a:r>
          </a:p>
          <a:p>
            <a:r>
              <a:rPr lang="en-US" dirty="0"/>
              <a:t>Government agencies aligning with NIST standards</a:t>
            </a:r>
            <a:br>
              <a:rPr lang="en-US" dirty="0"/>
            </a:br>
            <a:br>
              <a:rPr lang="en-US" dirty="0"/>
            </a:br>
            <a:r>
              <a:rPr lang="en-US" dirty="0"/>
              <a:t>Future work: Expand qualitative cohort – more interviews. Review more research papers, publish findings in peer-reviewed venue (IEEE, ACM, NIST Journal). contribute through blogs , articles related to PQC.</a:t>
            </a:r>
          </a:p>
        </p:txBody>
      </p:sp>
    </p:spTree>
    <p:extLst>
      <p:ext uri="{BB962C8B-B14F-4D97-AF65-F5344CB8AC3E}">
        <p14:creationId xmlns:p14="http://schemas.microsoft.com/office/powerpoint/2010/main" val="3760243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E1298-F8BB-51F1-45CE-19CC3488AB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7F06C-F70B-DA37-7F81-E331580B6D0B}"/>
              </a:ext>
            </a:extLst>
          </p:cNvPr>
          <p:cNvSpPr>
            <a:spLocks noGrp="1"/>
          </p:cNvSpPr>
          <p:nvPr>
            <p:ph type="title"/>
          </p:nvPr>
        </p:nvSpPr>
        <p:spPr>
          <a:xfrm>
            <a:off x="108622" y="156238"/>
            <a:ext cx="10752666" cy="1320800"/>
          </a:xfrm>
        </p:spPr>
        <p:txBody>
          <a:bodyPr>
            <a:normAutofit/>
          </a:bodyPr>
          <a:lstStyle/>
          <a:p>
            <a:r>
              <a:rPr lang="en-US" b="1" dirty="0"/>
              <a:t>FULL PROJECT REPOSITORY:</a:t>
            </a:r>
            <a:endParaRPr lang="en-US" dirty="0"/>
          </a:p>
        </p:txBody>
      </p:sp>
      <p:sp>
        <p:nvSpPr>
          <p:cNvPr id="4" name="Content Placeholder 3">
            <a:extLst>
              <a:ext uri="{FF2B5EF4-FFF2-40B4-BE49-F238E27FC236}">
                <a16:creationId xmlns:a16="http://schemas.microsoft.com/office/drawing/2014/main" id="{8DFFCD46-5195-B7AE-7FE9-55701192CFF1}"/>
              </a:ext>
            </a:extLst>
          </p:cNvPr>
          <p:cNvSpPr>
            <a:spLocks noGrp="1"/>
          </p:cNvSpPr>
          <p:nvPr>
            <p:ph idx="1"/>
          </p:nvPr>
        </p:nvSpPr>
        <p:spPr>
          <a:xfrm>
            <a:off x="401445" y="1477038"/>
            <a:ext cx="11444990" cy="5091030"/>
          </a:xfrm>
        </p:spPr>
        <p:txBody>
          <a:bodyPr>
            <a:normAutofit/>
          </a:bodyPr>
          <a:lstStyle/>
          <a:p>
            <a:endParaRPr lang="en-US" dirty="0"/>
          </a:p>
          <a:p>
            <a:pPr marL="0" indent="0">
              <a:buNone/>
            </a:pPr>
            <a:endParaRPr lang="en-US" dirty="0"/>
          </a:p>
        </p:txBody>
      </p:sp>
      <p:sp>
        <p:nvSpPr>
          <p:cNvPr id="7" name="TextBox 6">
            <a:extLst>
              <a:ext uri="{FF2B5EF4-FFF2-40B4-BE49-F238E27FC236}">
                <a16:creationId xmlns:a16="http://schemas.microsoft.com/office/drawing/2014/main" id="{6A0F786D-1EAA-5517-BBC7-73B47D6CF9B1}"/>
              </a:ext>
            </a:extLst>
          </p:cNvPr>
          <p:cNvSpPr txBox="1"/>
          <p:nvPr/>
        </p:nvSpPr>
        <p:spPr>
          <a:xfrm>
            <a:off x="0" y="822273"/>
            <a:ext cx="11626053" cy="369332"/>
          </a:xfrm>
          <a:prstGeom prst="rect">
            <a:avLst/>
          </a:prstGeom>
          <a:noFill/>
        </p:spPr>
        <p:txBody>
          <a:bodyPr wrap="square">
            <a:spAutoFit/>
          </a:bodyPr>
          <a:lstStyle/>
          <a:p>
            <a:r>
              <a:rPr lang="en-US" b="1" dirty="0"/>
              <a:t>https://github.com/ibhandari072021/PostQuantumCryptography</a:t>
            </a:r>
            <a:endParaRPr lang="en-US" dirty="0"/>
          </a:p>
        </p:txBody>
      </p:sp>
      <p:pic>
        <p:nvPicPr>
          <p:cNvPr id="5" name="Picture 4">
            <a:extLst>
              <a:ext uri="{FF2B5EF4-FFF2-40B4-BE49-F238E27FC236}">
                <a16:creationId xmlns:a16="http://schemas.microsoft.com/office/drawing/2014/main" id="{61046C52-FAE9-3D6D-77CD-5D7F842901FD}"/>
              </a:ext>
            </a:extLst>
          </p:cNvPr>
          <p:cNvPicPr>
            <a:picLocks noChangeAspect="1"/>
          </p:cNvPicPr>
          <p:nvPr/>
        </p:nvPicPr>
        <p:blipFill>
          <a:blip r:embed="rId3"/>
          <a:stretch>
            <a:fillRect/>
          </a:stretch>
        </p:blipFill>
        <p:spPr>
          <a:xfrm>
            <a:off x="345565" y="1191604"/>
            <a:ext cx="10351770" cy="5510157"/>
          </a:xfrm>
          <a:prstGeom prst="rect">
            <a:avLst/>
          </a:prstGeom>
        </p:spPr>
      </p:pic>
    </p:spTree>
    <p:extLst>
      <p:ext uri="{BB962C8B-B14F-4D97-AF65-F5344CB8AC3E}">
        <p14:creationId xmlns:p14="http://schemas.microsoft.com/office/powerpoint/2010/main" val="1489247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88ADD-2195-3869-4584-8CC2D0788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286CE-52BF-98C4-CE52-78E0CA6BB80A}"/>
              </a:ext>
            </a:extLst>
          </p:cNvPr>
          <p:cNvSpPr>
            <a:spLocks noGrp="1"/>
          </p:cNvSpPr>
          <p:nvPr>
            <p:ph type="title"/>
          </p:nvPr>
        </p:nvSpPr>
        <p:spPr>
          <a:xfrm>
            <a:off x="380634" y="131492"/>
            <a:ext cx="9377728" cy="734351"/>
          </a:xfrm>
        </p:spPr>
        <p:txBody>
          <a:bodyPr>
            <a:noAutofit/>
          </a:bodyPr>
          <a:lstStyle/>
          <a:p>
            <a:pPr>
              <a:lnSpc>
                <a:spcPct val="90000"/>
              </a:lnSpc>
            </a:pPr>
            <a:r>
              <a:rPr lang="en-US" b="1" dirty="0"/>
              <a:t>References</a:t>
            </a:r>
            <a:br>
              <a:rPr lang="en-US" b="1" dirty="0"/>
            </a:br>
            <a:endParaRPr lang="en-US" b="1" dirty="0">
              <a:latin typeface="Aptos" panose="020B0004020202020204" pitchFamily="34" charset="0"/>
              <a:ea typeface="+mj-lt"/>
              <a:cs typeface="+mj-lt"/>
            </a:endParaRPr>
          </a:p>
        </p:txBody>
      </p:sp>
      <p:sp>
        <p:nvSpPr>
          <p:cNvPr id="8" name="TextBox 7">
            <a:extLst>
              <a:ext uri="{FF2B5EF4-FFF2-40B4-BE49-F238E27FC236}">
                <a16:creationId xmlns:a16="http://schemas.microsoft.com/office/drawing/2014/main" id="{1A713B3E-35E2-EBCE-9FBA-99127C1EDB3F}"/>
              </a:ext>
            </a:extLst>
          </p:cNvPr>
          <p:cNvSpPr txBox="1"/>
          <p:nvPr/>
        </p:nvSpPr>
        <p:spPr>
          <a:xfrm>
            <a:off x="380634" y="1098374"/>
            <a:ext cx="9533845" cy="5262979"/>
          </a:xfrm>
          <a:prstGeom prst="rect">
            <a:avLst/>
          </a:prstGeom>
          <a:noFill/>
        </p:spPr>
        <p:txBody>
          <a:bodyPr wrap="square">
            <a:spAutoFit/>
          </a:bodyPr>
          <a:lstStyle/>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[1]	C. K. Gitonga, “The Impact of Quantum Computing on Cryptographic Systems: Urgency of Quantum-Resistant Algorithms and Practical Applications in Cryptography,” </a:t>
            </a:r>
            <a:r>
              <a:rPr lang="en-US" sz="1400" i="1"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European Journal of Information Technologies and Computer Science</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vol. 5, no. 1, pp. 1–10, Jan. 2025,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doi</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10.24018/COMPUTE.2025.5.1.146.</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[2]	E. D. Demir, B. Bilgin, M. Cengiz, and O.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Onbas¸lı</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“Performance Analysis and Industry Deployment of Post-Quantum Cryptography Algorithms,” Mar. 2025, Accessed: Sep. 07, 2025. [Online]. Available: https://arxiv.org/pdf/2503.12952v1</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[3]	“NIST Releases First 3 Finalized Post-Quantum Encryption Standards | NIST.” Accessed: Sep. 08, 2025. [Online]. Available: https://www.nist.gov/news-events/news/2024/08/nist-releases-first-3-finalized-post-quantum-encryption-standards</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[4]	N. Institute of Standards, “The NIST Cybersecurity Framework (CSF) 2.0,” 2024,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doi</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10.6028/NIST.CSWP.29.</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[5]	F.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Erata</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Y.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Unviersity</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V. Mateu, and J.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Szefer</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“Towards Automated Detection of Single-Trace Side-Channel Vulnerabilities in Constant-Time Cryptographic Code Ruzica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Piskac</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Accessed: Dec. 06, 2025. [Online]. Available: https://github.com/ferhaterata/pascal</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[6]	J. M. Boyens, “Cybersecurity Supply Chain Risk Management Practices for Systems and Organizations,” 2024.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doi</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10.6028/NIST.SP.800-161r1-upd1.</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[7]	N. Ahmed, L. Zhang, and A. Gangopadhyay, “A Survey of Post-Quantum Cryptography Support in Cryptographic Libraries,” Aug. 2025, Accessed: Sep. 27, 2025. [Online]. Available: https://arxiv.org/pdf/2508.16078v1</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[8]	“(23) Comprehensive Analysis of Kyber,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Dilithium</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and SPHINCS+: Pros, Cons, Use Cases, and Implementations in Post-Quantum Cryptography | LinkedIn.” Accessed: Sep. 27, 2025. [Online]. Available: https://www.linkedin.com/pulse/comprehensive-analysis-kyber-dilithium-sphincs-pros-cons-epure-umvcf/</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[9]	“NIST Releases First 3 Finalized Post-Quantum Encryption Standards | NIST.” Accessed: Sep. 27, 2025. [Online]. Available: https://www.nist.gov/news-events/news/2024/08/nist-releases-first-3-finalized-post-quantum-encryption-standards</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a:p>
            <a:pPr indent="-406400">
              <a:buNone/>
            </a:pP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[10]	“Inside NIST’s PQC: Kyber, </a:t>
            </a:r>
            <a:r>
              <a:rPr lang="en-US" sz="1400" dirty="0" err="1">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Dilithium</a:t>
            </a:r>
            <a:r>
              <a:rPr lang="en-US" sz="1400" dirty="0">
                <a:solidFill>
                  <a:srgbClr val="000000"/>
                </a:solidFill>
                <a:effectLst/>
                <a:latin typeface="Franklin Gothic Book" panose="020B0503020102020204" pitchFamily="34" charset="0"/>
                <a:ea typeface="Times New Roman" panose="02020603050405020304" pitchFamily="18" charset="0"/>
                <a:cs typeface="Arial" panose="020B0604020202020204" pitchFamily="34" charset="0"/>
              </a:rPr>
              <a:t>, and SPHINCS+.” Accessed: Sep. 27, 2025. [Online]. Available: https://postquantum.com/post-quantum/nists-pqc-technical/</a:t>
            </a:r>
            <a:endParaRPr lang="en-US" sz="1400" dirty="0">
              <a:solidFill>
                <a:srgbClr val="000000"/>
              </a:solidFill>
              <a:effectLst/>
              <a:latin typeface="Franklin Gothic Book" panose="020B05030201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30872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86283DCF-F349-C167-B684-C14ED285E4B5}"/>
              </a:ext>
            </a:extLst>
          </p:cNvPr>
          <p:cNvSpPr>
            <a:spLocks noGrp="1"/>
          </p:cNvSpPr>
          <p:nvPr>
            <p:ph idx="1"/>
          </p:nvPr>
        </p:nvSpPr>
        <p:spPr>
          <a:xfrm>
            <a:off x="1025299" y="1905995"/>
            <a:ext cx="4512988" cy="3317938"/>
          </a:xfrm>
        </p:spPr>
        <p:txBody>
          <a:bodyPr anchor="t">
            <a:normAutofit/>
          </a:bodyPr>
          <a:lstStyle/>
          <a:p>
            <a:pPr marL="0" indent="0">
              <a:buNone/>
            </a:pPr>
            <a:r>
              <a:rPr lang="en-US" sz="4000" dirty="0">
                <a:solidFill>
                  <a:schemeClr val="accent2"/>
                </a:solidFill>
              </a:rPr>
              <a:t>Thank you</a:t>
            </a:r>
          </a:p>
        </p:txBody>
      </p:sp>
    </p:spTree>
    <p:extLst>
      <p:ext uri="{BB962C8B-B14F-4D97-AF65-F5344CB8AC3E}">
        <p14:creationId xmlns:p14="http://schemas.microsoft.com/office/powerpoint/2010/main" val="2027503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47</TotalTime>
  <Words>4867</Words>
  <Application>Microsoft Office PowerPoint</Application>
  <PresentationFormat>Widescreen</PresentationFormat>
  <Paragraphs>234</Paragraphs>
  <Slides>19</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Abadi</vt:lpstr>
      <vt:lpstr>Aptos</vt:lpstr>
      <vt:lpstr>Arial</vt:lpstr>
      <vt:lpstr>Courier New</vt:lpstr>
      <vt:lpstr>Franklin Gothic Book</vt:lpstr>
      <vt:lpstr>Segoe UI</vt:lpstr>
      <vt:lpstr>Trebuchet MS</vt:lpstr>
      <vt:lpstr>Wingdings 3</vt:lpstr>
      <vt:lpstr>Facet</vt:lpstr>
      <vt:lpstr>   Post-Quantum Cryptography Performance, Side-Channel Resilience &amp; Governance Framework: (Bridging the quantum transition gap through empirical evidence and organizational readiness)</vt:lpstr>
      <vt:lpstr>Agenda:</vt:lpstr>
      <vt:lpstr>Why Now: Quantum Threat &amp; Migration Urgency</vt:lpstr>
      <vt:lpstr>US Govt Readiness timeline (Ahmed et al. (2025))</vt:lpstr>
      <vt:lpstr>US Govt Readiness timeline (Ahmed et al. (2025))- Timeline breakdown (2016-2030) PHASE 1: NIST Develops New Standards (2016–2024)  </vt:lpstr>
      <vt:lpstr>US Govt Readiness timeline (Ahmed et al. (2025))- Timeline breakdown (2016-2030) PHASE 2: Government Transition Plan (2022–2030)   </vt:lpstr>
      <vt:lpstr>Why This Matters To My Research (PQC capstone project)</vt:lpstr>
      <vt:lpstr>Evidence Table: Performance &amp; Mitigation Baseline </vt:lpstr>
      <vt:lpstr>Method: Mixed Methods analysis pipeline </vt:lpstr>
      <vt:lpstr>STANDARDS ANCHORS - CSF 2.0 &amp; ZERO TRUST (ZTA)</vt:lpstr>
      <vt:lpstr>STANDARDS ANCHORS - CSF 2.0 &amp; ZERO TRUST (ZTA)- Evidence</vt:lpstr>
      <vt:lpstr>Ethics, Data Management &amp; Supply Chain Safeguards </vt:lpstr>
      <vt:lpstr>Evaluation Plan: Metrics &amp; Traceability Chain</vt:lpstr>
      <vt:lpstr>CSF CURRENT → TARGET PROFILE (SP 1301 GOVERNANCE APPROACH)</vt:lpstr>
      <vt:lpstr>Reproducibility</vt:lpstr>
      <vt:lpstr>IMPACT &amp; NEXT STEPS - RESEARCH VALUE &amp; SCALABILITY</vt:lpstr>
      <vt:lpstr>FULL PROJECT REPOSITORY:</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Bhandari, Ishita</dc:creator>
  <cp:lastModifiedBy>Bhandari, Ishita</cp:lastModifiedBy>
  <cp:revision>61</cp:revision>
  <dcterms:created xsi:type="dcterms:W3CDTF">2025-04-19T14:50:24Z</dcterms:created>
  <dcterms:modified xsi:type="dcterms:W3CDTF">2025-12-08T05:35:05Z</dcterms:modified>
</cp:coreProperties>
</file>